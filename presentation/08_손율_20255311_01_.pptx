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6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저는 '뉴스가 먼저 찾아오는 상식 뉴스 앱', 뉴스 봐를 소개하겠습니다. 오른쪽처럼 아침에 이런 알림이 온다면, 한 번쯤 눌러보고 싶지 않으신가요?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문제 → 해결 → 결과 순서로 진행합니다. 먼저 제가 느낀 문제를 데이터로 확인하고, 이를 어떻게 해결할지, 그리고 무엇으로 성공을 확인할지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출발점은 제 경험입니다. 상식을 늘리려고 뉴스를 보고 싶은데, 실제로는 찾아보지 않게 됩니다. 이유를 정리하니 네 가지였습니다. 특히 P1 재미없음, P2 내용이 부실하고 흩어짐, P4 찾아보는 행동 자체를 안 함이 가장 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저만의 문제일까요? 로이터 저널리즘 연구소가 48개국 약 10만 명을 조사한 디지털 뉴스 리포트 2025를 보면, 열 명 중 네 명이 뉴스를 일부러 피합니다. 이유 1위는 기분이 나빠져서, 2위는 양이 너무 많아 지쳐서입니다. 특히 35세 미만은 '뉴스가 이해하기 어렵다'는 답이 더 많았습니다. 제가 느낀 P1, P2, P3이 세계적인 현상이라는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한국은 어떨까요? 올해 6월 나온 디지털 뉴스 리포트 2026의 한국 분석입니다. 한국인은 61%가 포털·검색으로 뉴스를 보는데, 48개국 평균의 두 배입니다. 반면 언론사 사이트나 앱을 직접 찾아가는 사람은 8%로 48개국 중 거의 꼴찌입니다. 즉, 한국인은 뉴스를 직접 찾아가지 않고, 눈앞에 보이는 것을 본다는 뜻입니다. 그리고 AI 챗봇으로 뉴스를 보는 사람이 1년 만에 두 배가 됐습니다. AI가 뉴스를 정리해 주는 방식이 이미 받아들여지고 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데이터를 합치면 결론은 하나입니다. 사람들은 뉴스를 찾으러 가지 않습니다. 그래서 뉴스가 먼저 찾아와야 하고, 첫 문장이 재미있어야 합니다. 실제로 사람들이 AI에게 가장 원하는 뉴스 기능도 요약 27%, 맞춤 추천·알림 21%였습니다. 뉴스 봐는 정확히 이 지점을 겨냥합니다.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문제 네 개마다 해결책을 하나씩 연결했습니다. 재미없음은 단계별 관심 분야 선택으로, 흩어진 정보는 여러 기사를 묶은 종합 기사로, 어려움은 단어 해설로, 찾아보지 않음은 어그로 한 줄 알림으로 해결합니다. 기능이 따로 노는 것이 아니라 문제에서 출발한 기능이라는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사용 흐름입니다. 처음 한 번 관심 분야를 고르면, 서버에서 AI가 뉴스를 모아 정리합니다. 아침 7시에 알림이 오고, 누르면 여러 기사를 합친 종합 기사가 나옵니다. 어려운 단어는 탭하면 설명이 뜨고, 맨 아래에서 원문 기사를 확인할 수 있습니다. 사용자가 하는 일은 알림을 누르는 것 하나뿐입니다.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버전, 즉 MVP에는 기능을 딱 네 개만 넣었습니다. 대학 과제 규모에서 끝까지 동작하는 것을 만드는 것이 목표이기 때문입니다. 네 기능만으로 알림부터 출처 확인까지 한 흐름이 완성됩니다.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'어그로'라는 말에 낚시성 기사가 떠오르실 수 있습니다. 하지만 낚시성 제목이 나쁜 이유는 눌렀을 때 알맹이가 없기 때문입니다. 뉴스 봐는 누르면 여러 기사를 모은 종합 기사가 나옵니다. 약속보다 더 많은 정보를 주는 것이죠. 그래서 본체는 정보, 어그로는 사람을 끌어오는 부가 기능으로 두었고, 과장 가능성은 안내 문구로 미리 알립니다.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서비스와 비교하면, 포털은 기사 목록을 주고, 요약 뉴스레터는 남이 고른 뉴스를 줍니다. 뉴스 봐는 내 취향에 맞춘 사건 하나를, 여러 기사로 모아, 내 수준으로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구현은 대학 과제 규모에 맞게 전부 무료로 구성했습니다. 서버 컴퓨터를 따로 빌리지 않고, GitHub Actions가 하루 세 번 파이썬 스크립트를 실행합니다. 스크립트가 구글 뉴스와 네이버에서 기사를 모으고, Gemini AI로 정리해 Firebase에 올리면, 안드로이드 앱은 읽어서 보여주기만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프로젝트로 확인하려는 가설은 하나입니다. '흥미로운 한 문장을 먼저 보여주면, 사람들이 뉴스를 실제로 눌러 읽는다.' 성공 기준은 두 가지입니다. 시연에서 알림부터 출처 확인까지 끝까지 동작할 것, 그리고 제가 2주 동안 직접 쓰면서 클릭 기록을 남기는 것입니다. 현재 아이디어 정리, 기획서, 기능명세서까지 마쳤고 화면 설계와 목업을 진행 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사람들은 뉴스를 찾으러 가지 않습니다. 그러니 뉴스가, 재미있는 한 문장으로, 먼저 찾아가야 합니다. 그것이 뉴스 봐입니다.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발표에 사용한 자료의 출처입니다. 가능한 한 2025~2026년 최신 조사를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-1"/>
          <p:cNvSpPr txBox="1"/>
          <p:nvPr/>
        </p:nvSpPr>
        <p:spPr>
          <a:xfrm>
            <a:off x="609600" y="1490663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발표 · 어드벤처 디자인</a:t>
            </a:r>
            <a:endParaRPr lang="ko-KR" sz="1275" dirty="0"/>
          </a:p>
        </p:txBody>
      </p:sp>
      <p:sp>
        <p:nvSpPr>
          <p:cNvPr id="3" name="글상자 1-2"/>
          <p:cNvSpPr txBox="1"/>
          <p:nvPr/>
        </p:nvSpPr>
        <p:spPr>
          <a:xfrm>
            <a:off x="609600" y="1785938"/>
            <a:ext cx="11201400" cy="941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10"/>
              </a:lnSpc>
              <a:buNone/>
            </a:pPr>
            <a:r>
              <a:rPr lang="ko-KR" altLang="en-US" sz="5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5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5700" dirty="0"/>
          </a:p>
        </p:txBody>
      </p:sp>
      <p:sp>
        <p:nvSpPr>
          <p:cNvPr id="4" name="글상자 1-3"/>
          <p:cNvSpPr txBox="1"/>
          <p:nvPr/>
        </p:nvSpPr>
        <p:spPr>
          <a:xfrm>
            <a:off x="609600" y="2860328"/>
            <a:ext cx="1130198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ko-KR" altLang="en-US" sz="1950" dirty="0">
                <a:solidFill>
                  <a:srgbClr val="D5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찾아보지 않아도 </a:t>
            </a:r>
            <a:r>
              <a:rPr lang="ko-KR" alt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뉴스가 먼저 찾아오는</a:t>
            </a:r>
            <a:endParaRPr lang="ko-KR" sz="1950" dirty="0"/>
          </a:p>
          <a:p>
            <a:pPr marL="0" indent="0" algn="l">
              <a:lnSpc>
                <a:spcPts val="2925"/>
              </a:lnSpc>
              <a:buNone/>
            </a:pPr>
            <a:r>
              <a:rPr lang="ko-KR" altLang="en-US" sz="1950" dirty="0">
                <a:solidFill>
                  <a:srgbClr val="D5D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상식 뉴스 앱</a:t>
            </a:r>
            <a:endParaRPr lang="ko-KR" sz="1950" dirty="0"/>
          </a:p>
        </p:txBody>
      </p:sp>
      <p:sp>
        <p:nvSpPr>
          <p:cNvPr id="5" name="글상자 1-4"/>
          <p:cNvSpPr txBox="1"/>
          <p:nvPr/>
        </p:nvSpPr>
        <p:spPr>
          <a:xfrm>
            <a:off x="609600" y="6144916"/>
            <a:ext cx="11301984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3"/>
              </a:lnSpc>
              <a:buNone/>
            </a:pPr>
            <a:r>
              <a:rPr lang="ko-KR" altLang="en-US" sz="1400" dirty="0">
                <a:solidFill>
                  <a:srgbClr val="B3C1DB"/>
                </a:solidFill>
                <a:latin typeface="Malgun Gothic" pitchFamily="34" charset="0"/>
                <a:ea typeface="Malgun Gothic" pitchFamily="34" charset="-122"/>
              </a:rPr>
              <a:t>인공지능공학과 </a:t>
            </a:r>
            <a:r>
              <a:rPr lang="en-US" altLang="ko-KR" sz="1400" dirty="0">
                <a:solidFill>
                  <a:srgbClr val="B3C1DB"/>
                </a:solidFill>
                <a:latin typeface="Malgun Gothic" pitchFamily="34" charset="0"/>
                <a:ea typeface="Malgun Gothic" pitchFamily="34" charset="-122"/>
              </a:rPr>
              <a:t>20255311 </a:t>
            </a:r>
            <a:r>
              <a:rPr lang="ko-KR" altLang="en-US" sz="1400" dirty="0">
                <a:solidFill>
                  <a:srgbClr val="B3C1DB"/>
                </a:solidFill>
                <a:latin typeface="Malgun Gothic" pitchFamily="34" charset="0"/>
                <a:ea typeface="Malgun Gothic" pitchFamily="34" charset="-122"/>
              </a:rPr>
              <a:t>손율</a:t>
            </a:r>
            <a:endParaRPr lang="ko-KR" sz="1400" dirty="0"/>
          </a:p>
        </p:txBody>
      </p:sp>
      <p:sp>
        <p:nvSpPr>
          <p:cNvPr id="6" name="도형 1-5"/>
          <p:cNvSpPr/>
          <p:nvPr/>
        </p:nvSpPr>
        <p:spPr>
          <a:xfrm>
            <a:off x="7810500" y="1524000"/>
            <a:ext cx="3619500" cy="1177230"/>
          </a:xfrm>
          <a:prstGeom prst="roundRect">
            <a:avLst>
              <a:gd name="adj" fmla="val 14564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14203C">
                <a:alpha val="25000"/>
              </a:srgbClr>
            </a:outerShdw>
          </a:effectLst>
        </p:spPr>
      </p:sp>
      <p:sp>
        <p:nvSpPr>
          <p:cNvPr id="7" name="글상자 1-6"/>
          <p:cNvSpPr txBox="1"/>
          <p:nvPr/>
        </p:nvSpPr>
        <p:spPr>
          <a:xfrm>
            <a:off x="8020050" y="1695450"/>
            <a:ext cx="18563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뉴스 봐 · 오늘의 화제</a:t>
            </a:r>
            <a:endParaRPr lang="ko-KR" sz="1125" dirty="0"/>
          </a:p>
        </p:txBody>
      </p:sp>
      <p:sp>
        <p:nvSpPr>
          <p:cNvPr id="8" name="글상자 1-7"/>
          <p:cNvSpPr txBox="1"/>
          <p:nvPr/>
        </p:nvSpPr>
        <p:spPr>
          <a:xfrm>
            <a:off x="10598646" y="1695450"/>
            <a:ext cx="8504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7:00</a:t>
            </a:r>
            <a:endParaRPr lang="ko-KR" sz="1125" dirty="0"/>
          </a:p>
        </p:txBody>
      </p:sp>
      <p:sp>
        <p:nvSpPr>
          <p:cNvPr id="9" name="글상자 1-8"/>
          <p:cNvSpPr txBox="1"/>
          <p:nvPr/>
        </p:nvSpPr>
        <p:spPr>
          <a:xfrm>
            <a:off x="8020050" y="1943100"/>
            <a:ext cx="329641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ko-KR" altLang="en-US" sz="16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세계 뉴스 요약: 다 망했는데 펭귄만 살아남음</a:t>
            </a:r>
            <a:endParaRPr lang="ko-KR" sz="1650" dirty="0"/>
          </a:p>
        </p:txBody>
      </p:sp>
      <p:sp>
        <p:nvSpPr>
          <p:cNvPr id="10" name="도형 1-9"/>
          <p:cNvSpPr/>
          <p:nvPr/>
        </p:nvSpPr>
        <p:spPr>
          <a:xfrm>
            <a:off x="7429500" y="3143250"/>
            <a:ext cx="3429000" cy="1123950"/>
          </a:xfrm>
          <a:prstGeom prst="roundRect">
            <a:avLst>
              <a:gd name="adj" fmla="val 15254"/>
            </a:avLst>
          </a:prstGeom>
          <a:solidFill>
            <a:srgbClr val="FFFFFF">
              <a:alpha val="88000"/>
            </a:srgbClr>
          </a:solidFill>
          <a:ln/>
          <a:effectLst>
            <a:outerShdw blurRad="152400" dist="50800" dir="5400000" algn="bl" rotWithShape="0">
              <a:srgbClr val="14203C">
                <a:alpha val="25000"/>
              </a:srgbClr>
            </a:outerShdw>
          </a:effectLst>
        </p:spPr>
      </p:sp>
      <p:sp>
        <p:nvSpPr>
          <p:cNvPr id="11" name="글상자 1-10"/>
          <p:cNvSpPr txBox="1"/>
          <p:nvPr/>
        </p:nvSpPr>
        <p:spPr>
          <a:xfrm>
            <a:off x="7639050" y="3314700"/>
            <a:ext cx="20495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뉴스 봐 · 나의 관심 분야</a:t>
            </a:r>
            <a:endParaRPr lang="ko-KR" sz="1125" dirty="0"/>
          </a:p>
        </p:txBody>
      </p:sp>
      <p:sp>
        <p:nvSpPr>
          <p:cNvPr id="12" name="글상자 1-11"/>
          <p:cNvSpPr txBox="1"/>
          <p:nvPr/>
        </p:nvSpPr>
        <p:spPr>
          <a:xfrm>
            <a:off x="9944249" y="3314700"/>
            <a:ext cx="9333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12:00</a:t>
            </a:r>
            <a:endParaRPr lang="ko-KR" sz="1125" dirty="0"/>
          </a:p>
        </p:txBody>
      </p:sp>
      <p:sp>
        <p:nvSpPr>
          <p:cNvPr id="13" name="글상자 1-12"/>
          <p:cNvSpPr txBox="1"/>
          <p:nvPr/>
        </p:nvSpPr>
        <p:spPr>
          <a:xfrm>
            <a:off x="7639050" y="3562350"/>
            <a:ext cx="31001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우주에서 온 신호, 진짜 외계인일까? 기사 5개로 끝장 정리</a:t>
            </a:r>
            <a:endParaRPr lang="ko-KR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2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2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sz="1275" dirty="0"/>
          </a:p>
        </p:txBody>
      </p:sp>
      <p:sp>
        <p:nvSpPr>
          <p:cNvPr id="4" name="글상자 2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ko-KR" sz="2700" dirty="0"/>
          </a:p>
        </p:txBody>
      </p:sp>
      <p:sp>
        <p:nvSpPr>
          <p:cNvPr id="5" name="글상자 2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데이터로 확인하고, 해결책을 문제마다 하나씩 연결한 뒤, 결과를 어떻게 확인할지 보여 드립니다.</a:t>
            </a:r>
            <a:endParaRPr lang="ko-KR" sz="1575" dirty="0"/>
          </a:p>
        </p:txBody>
      </p:sp>
      <p:sp>
        <p:nvSpPr>
          <p:cNvPr id="6" name="도형 2-5"/>
          <p:cNvSpPr/>
          <p:nvPr/>
        </p:nvSpPr>
        <p:spPr>
          <a:xfrm>
            <a:off x="609600" y="1917353"/>
            <a:ext cx="2614613" cy="2286149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글상자 2-6"/>
          <p:cNvSpPr txBox="1"/>
          <p:nvPr/>
        </p:nvSpPr>
        <p:spPr>
          <a:xfrm>
            <a:off x="828675" y="2155478"/>
            <a:ext cx="240506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sz="3300" dirty="0"/>
          </a:p>
        </p:txBody>
      </p:sp>
      <p:sp>
        <p:nvSpPr>
          <p:cNvPr id="8" name="글상자 2-7"/>
          <p:cNvSpPr txBox="1"/>
          <p:nvPr/>
        </p:nvSpPr>
        <p:spPr>
          <a:xfrm>
            <a:off x="828675" y="2707928"/>
            <a:ext cx="2405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33"/>
              </a:lnSpc>
              <a:buNone/>
            </a:pPr>
            <a:r>
              <a:rPr lang="ko-KR" altLang="en-US" sz="20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ko-KR" sz="2025" dirty="0"/>
          </a:p>
        </p:txBody>
      </p:sp>
      <p:sp>
        <p:nvSpPr>
          <p:cNvPr id="9" name="글상자 2-8"/>
          <p:cNvSpPr txBox="1"/>
          <p:nvPr/>
        </p:nvSpPr>
        <p:spPr>
          <a:xfrm>
            <a:off x="828675" y="3146078"/>
            <a:ext cx="2241756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뉴스를 보고 싶은데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보게 될까?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나의 경험 + 통계</a:t>
            </a:r>
            <a:endParaRPr lang="ko-KR" sz="1388" dirty="0"/>
          </a:p>
        </p:txBody>
      </p:sp>
      <p:sp>
        <p:nvSpPr>
          <p:cNvPr id="10" name="도형 2-9"/>
          <p:cNvSpPr/>
          <p:nvPr/>
        </p:nvSpPr>
        <p:spPr>
          <a:xfrm>
            <a:off x="3395663" y="1917353"/>
            <a:ext cx="2614613" cy="2286149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1" name="글상자 2-10"/>
          <p:cNvSpPr txBox="1"/>
          <p:nvPr/>
        </p:nvSpPr>
        <p:spPr>
          <a:xfrm>
            <a:off x="3614738" y="2155478"/>
            <a:ext cx="240506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sz="3300" dirty="0"/>
          </a:p>
        </p:txBody>
      </p:sp>
      <p:sp>
        <p:nvSpPr>
          <p:cNvPr id="12" name="글상자 2-11"/>
          <p:cNvSpPr txBox="1"/>
          <p:nvPr/>
        </p:nvSpPr>
        <p:spPr>
          <a:xfrm>
            <a:off x="3614738" y="2707928"/>
            <a:ext cx="2405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33"/>
              </a:lnSpc>
              <a:buNone/>
            </a:pPr>
            <a:r>
              <a:rPr lang="ko-KR" altLang="en-US" sz="20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</a:t>
            </a:r>
            <a:endParaRPr lang="ko-KR" sz="2025" dirty="0"/>
          </a:p>
        </p:txBody>
      </p:sp>
      <p:sp>
        <p:nvSpPr>
          <p:cNvPr id="13" name="글상자 2-12"/>
          <p:cNvSpPr txBox="1"/>
          <p:nvPr/>
        </p:nvSpPr>
        <p:spPr>
          <a:xfrm>
            <a:off x="3614738" y="3146078"/>
            <a:ext cx="2241756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"찾으러 가는" 구조는 실패한다.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뉴스가 먼저 와야 한다.</a:t>
            </a:r>
            <a:endParaRPr lang="ko-KR" sz="1388" dirty="0"/>
          </a:p>
        </p:txBody>
      </p:sp>
      <p:sp>
        <p:nvSpPr>
          <p:cNvPr id="14" name="도형 2-13"/>
          <p:cNvSpPr/>
          <p:nvPr/>
        </p:nvSpPr>
        <p:spPr>
          <a:xfrm>
            <a:off x="6181725" y="1917353"/>
            <a:ext cx="2614613" cy="2286149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5" name="글상자 2-14"/>
          <p:cNvSpPr txBox="1"/>
          <p:nvPr/>
        </p:nvSpPr>
        <p:spPr>
          <a:xfrm>
            <a:off x="6400800" y="2155478"/>
            <a:ext cx="240506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sz="3300" dirty="0"/>
          </a:p>
        </p:txBody>
      </p:sp>
      <p:sp>
        <p:nvSpPr>
          <p:cNvPr id="16" name="글상자 2-15"/>
          <p:cNvSpPr txBox="1"/>
          <p:nvPr/>
        </p:nvSpPr>
        <p:spPr>
          <a:xfrm>
            <a:off x="6400800" y="2707928"/>
            <a:ext cx="2405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33"/>
              </a:lnSpc>
              <a:buNone/>
            </a:pPr>
            <a:r>
              <a:rPr lang="ko-KR" altLang="en-US" sz="20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ko-KR" sz="2025" dirty="0"/>
          </a:p>
        </p:txBody>
      </p:sp>
      <p:sp>
        <p:nvSpPr>
          <p:cNvPr id="17" name="글상자 2-16"/>
          <p:cNvSpPr txBox="1"/>
          <p:nvPr/>
        </p:nvSpPr>
        <p:spPr>
          <a:xfrm>
            <a:off x="6400800" y="3146078"/>
            <a:ext cx="2241756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4개 ↔ 기능 4개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 · 차별점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 방법</a:t>
            </a:r>
            <a:endParaRPr lang="ko-KR" sz="1388" dirty="0"/>
          </a:p>
        </p:txBody>
      </p:sp>
      <p:sp>
        <p:nvSpPr>
          <p:cNvPr id="18" name="도형 2-17"/>
          <p:cNvSpPr/>
          <p:nvPr/>
        </p:nvSpPr>
        <p:spPr>
          <a:xfrm>
            <a:off x="8967788" y="1917353"/>
            <a:ext cx="2614613" cy="2286149"/>
          </a:xfrm>
          <a:prstGeom prst="roundRect">
            <a:avLst>
              <a:gd name="adj" fmla="val 666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9" name="글상자 2-18"/>
          <p:cNvSpPr txBox="1"/>
          <p:nvPr/>
        </p:nvSpPr>
        <p:spPr>
          <a:xfrm>
            <a:off x="9186863" y="2155478"/>
            <a:ext cx="240506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sz="3300" dirty="0"/>
          </a:p>
        </p:txBody>
      </p:sp>
      <p:sp>
        <p:nvSpPr>
          <p:cNvPr id="20" name="글상자 2-19"/>
          <p:cNvSpPr txBox="1"/>
          <p:nvPr/>
        </p:nvSpPr>
        <p:spPr>
          <a:xfrm>
            <a:off x="9186863" y="2707928"/>
            <a:ext cx="2405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33"/>
              </a:lnSpc>
              <a:buNone/>
            </a:pPr>
            <a:r>
              <a:rPr lang="ko-KR" altLang="en-US" sz="20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</a:t>
            </a:r>
            <a:endParaRPr lang="ko-KR" sz="2025" dirty="0"/>
          </a:p>
        </p:txBody>
      </p:sp>
      <p:sp>
        <p:nvSpPr>
          <p:cNvPr id="21" name="글상자 2-20"/>
          <p:cNvSpPr txBox="1"/>
          <p:nvPr/>
        </p:nvSpPr>
        <p:spPr>
          <a:xfrm>
            <a:off x="9186863" y="3146078"/>
            <a:ext cx="2241756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가설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ko-KR" sz="1388" dirty="0"/>
          </a:p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4A54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</a:t>
            </a:r>
            <a:endParaRPr lang="ko-KR" sz="1388" dirty="0"/>
          </a:p>
        </p:txBody>
      </p:sp>
      <p:sp>
        <p:nvSpPr>
          <p:cNvPr id="22" name="도형 2-21"/>
          <p:cNvSpPr/>
          <p:nvPr/>
        </p:nvSpPr>
        <p:spPr>
          <a:xfrm>
            <a:off x="609600" y="5787033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23" name="글상자 2-22"/>
          <p:cNvSpPr txBox="1"/>
          <p:nvPr/>
        </p:nvSpPr>
        <p:spPr>
          <a:xfrm>
            <a:off x="838200" y="5929908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—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뉴스를 찾으러 가지 않는다. 그러니 뉴스가, 재미있는 한 문장으로, 먼저 찾아가야 한다.</a:t>
            </a:r>
            <a:endParaRPr lang="ko-KR" sz="1575" dirty="0"/>
          </a:p>
        </p:txBody>
      </p:sp>
      <p:sp>
        <p:nvSpPr>
          <p:cNvPr id="24" name="글상자 2-23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ko-KR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3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3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정의</a:t>
            </a:r>
            <a:endParaRPr lang="ko-KR" sz="1275" dirty="0"/>
          </a:p>
        </p:txBody>
      </p:sp>
      <p:sp>
        <p:nvSpPr>
          <p:cNvPr id="4" name="글상자 3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"상식을 늘리고 싶은데, 뉴스를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보게 된다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ko-KR" sz="2700" dirty="0"/>
          </a:p>
        </p:txBody>
      </p:sp>
      <p:sp>
        <p:nvSpPr>
          <p:cNvPr id="5" name="글상자 3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분야는 있지만 전문가는 아니고, 대화에서 뒤처지고 싶지 않은 대학생 — 바로 제 이야기입니다.</a:t>
            </a:r>
            <a:endParaRPr lang="ko-KR" sz="1575" dirty="0"/>
          </a:p>
        </p:txBody>
      </p:sp>
      <p:sp>
        <p:nvSpPr>
          <p:cNvPr id="6" name="도형 3-5"/>
          <p:cNvSpPr/>
          <p:nvPr/>
        </p:nvSpPr>
        <p:spPr>
          <a:xfrm>
            <a:off x="609600" y="1726853"/>
            <a:ext cx="5410200" cy="1622524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도형 3-6"/>
          <p:cNvSpPr/>
          <p:nvPr/>
        </p:nvSpPr>
        <p:spPr>
          <a:xfrm>
            <a:off x="828675" y="1907828"/>
            <a:ext cx="1425625" cy="24765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8" name="글상자 3-7"/>
          <p:cNvSpPr txBox="1"/>
          <p:nvPr/>
        </p:nvSpPr>
        <p:spPr>
          <a:xfrm>
            <a:off x="933450" y="1936403"/>
            <a:ext cx="14446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· 중요도 ★★★</a:t>
            </a:r>
            <a:endParaRPr lang="ko-KR" sz="1125" dirty="0"/>
          </a:p>
        </p:txBody>
      </p:sp>
      <p:sp>
        <p:nvSpPr>
          <p:cNvPr id="9" name="글상자 3-8"/>
          <p:cNvSpPr txBox="1"/>
          <p:nvPr/>
        </p:nvSpPr>
        <p:spPr>
          <a:xfrm>
            <a:off x="828675" y="2250728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재미가 없다</a:t>
            </a:r>
            <a:endParaRPr lang="ko-KR" sz="1725" dirty="0"/>
          </a:p>
        </p:txBody>
      </p:sp>
      <p:sp>
        <p:nvSpPr>
          <p:cNvPr id="10" name="글상자 3-9"/>
          <p:cNvSpPr txBox="1"/>
          <p:nvPr/>
        </p:nvSpPr>
        <p:spPr>
          <a:xfrm>
            <a:off x="828675" y="2622203"/>
            <a:ext cx="5121212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없는 기사가 먼저 보인다. "과학", "컴퓨터"로 분야를 정해도 범위가 너무 넓다.</a:t>
            </a:r>
            <a:endParaRPr lang="ko-KR" sz="1388" dirty="0"/>
          </a:p>
        </p:txBody>
      </p:sp>
      <p:sp>
        <p:nvSpPr>
          <p:cNvPr id="11" name="도형 3-10"/>
          <p:cNvSpPr/>
          <p:nvPr/>
        </p:nvSpPr>
        <p:spPr>
          <a:xfrm>
            <a:off x="6172200" y="1726853"/>
            <a:ext cx="5410200" cy="1622524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도형 3-11"/>
          <p:cNvSpPr/>
          <p:nvPr/>
        </p:nvSpPr>
        <p:spPr>
          <a:xfrm>
            <a:off x="6391275" y="1907828"/>
            <a:ext cx="1425625" cy="24765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13" name="글상자 3-12"/>
          <p:cNvSpPr txBox="1"/>
          <p:nvPr/>
        </p:nvSpPr>
        <p:spPr>
          <a:xfrm>
            <a:off x="6496050" y="1936403"/>
            <a:ext cx="14446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· 중요도 ★★★</a:t>
            </a:r>
            <a:endParaRPr lang="ko-KR" sz="1125" dirty="0"/>
          </a:p>
        </p:txBody>
      </p:sp>
      <p:sp>
        <p:nvSpPr>
          <p:cNvPr id="14" name="글상자 3-13"/>
          <p:cNvSpPr txBox="1"/>
          <p:nvPr/>
        </p:nvSpPr>
        <p:spPr>
          <a:xfrm>
            <a:off x="6391275" y="2250728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 부실하고 흩어져 있다</a:t>
            </a:r>
            <a:endParaRPr lang="ko-KR" sz="1725" dirty="0"/>
          </a:p>
        </p:txBody>
      </p:sp>
      <p:sp>
        <p:nvSpPr>
          <p:cNvPr id="15" name="글상자 3-14"/>
          <p:cNvSpPr txBox="1"/>
          <p:nvPr/>
        </p:nvSpPr>
        <p:spPr>
          <a:xfrm>
            <a:off x="6391275" y="2622203"/>
            <a:ext cx="5121212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하나로는 내용이 적거나 결론이 없다. 전체 그림을 보려면 여러 기사를 찾아 다녀야 한다.</a:t>
            </a:r>
            <a:endParaRPr lang="ko-KR" sz="1388" dirty="0"/>
          </a:p>
        </p:txBody>
      </p:sp>
      <p:sp>
        <p:nvSpPr>
          <p:cNvPr id="16" name="도형 3-15"/>
          <p:cNvSpPr/>
          <p:nvPr/>
        </p:nvSpPr>
        <p:spPr>
          <a:xfrm>
            <a:off x="609600" y="3501777"/>
            <a:ext cx="5410200" cy="1349425"/>
          </a:xfrm>
          <a:prstGeom prst="roundRect">
            <a:avLst>
              <a:gd name="adj" fmla="val 988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7" name="도형 3-16"/>
          <p:cNvSpPr/>
          <p:nvPr/>
        </p:nvSpPr>
        <p:spPr>
          <a:xfrm>
            <a:off x="828675" y="3682752"/>
            <a:ext cx="1282750" cy="24765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18" name="글상자 3-17"/>
          <p:cNvSpPr txBox="1"/>
          <p:nvPr/>
        </p:nvSpPr>
        <p:spPr>
          <a:xfrm>
            <a:off x="933450" y="3711327"/>
            <a:ext cx="1301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· 중요도 ★★</a:t>
            </a:r>
            <a:endParaRPr lang="ko-KR" sz="1125" dirty="0"/>
          </a:p>
        </p:txBody>
      </p:sp>
      <p:sp>
        <p:nvSpPr>
          <p:cNvPr id="19" name="글상자 3-18"/>
          <p:cNvSpPr txBox="1"/>
          <p:nvPr/>
        </p:nvSpPr>
        <p:spPr>
          <a:xfrm>
            <a:off x="828675" y="4025652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들어가면 너무 어렵다</a:t>
            </a:r>
            <a:endParaRPr lang="ko-KR" sz="1725" dirty="0"/>
          </a:p>
        </p:txBody>
      </p:sp>
      <p:sp>
        <p:nvSpPr>
          <p:cNvPr id="20" name="글상자 3-19"/>
          <p:cNvSpPr txBox="1"/>
          <p:nvPr/>
        </p:nvSpPr>
        <p:spPr>
          <a:xfrm>
            <a:off x="828675" y="4397127"/>
            <a:ext cx="5200650" cy="2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찾아보면 내 수준보다 지나치게 전문적인 글이 나온다.</a:t>
            </a:r>
            <a:endParaRPr lang="ko-KR" sz="1388" dirty="0"/>
          </a:p>
        </p:txBody>
      </p:sp>
      <p:sp>
        <p:nvSpPr>
          <p:cNvPr id="21" name="도형 3-20"/>
          <p:cNvSpPr/>
          <p:nvPr/>
        </p:nvSpPr>
        <p:spPr>
          <a:xfrm>
            <a:off x="6172200" y="3501777"/>
            <a:ext cx="5410200" cy="1349425"/>
          </a:xfrm>
          <a:prstGeom prst="roundRect">
            <a:avLst>
              <a:gd name="adj" fmla="val 988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도형 3-21"/>
          <p:cNvSpPr/>
          <p:nvPr/>
        </p:nvSpPr>
        <p:spPr>
          <a:xfrm>
            <a:off x="6391275" y="3682752"/>
            <a:ext cx="1425625" cy="24765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23" name="글상자 3-22"/>
          <p:cNvSpPr txBox="1"/>
          <p:nvPr/>
        </p:nvSpPr>
        <p:spPr>
          <a:xfrm>
            <a:off x="6496050" y="3711327"/>
            <a:ext cx="14446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· 중요도 ★★★</a:t>
            </a:r>
            <a:endParaRPr lang="ko-KR" sz="1125" dirty="0"/>
          </a:p>
        </p:txBody>
      </p:sp>
      <p:sp>
        <p:nvSpPr>
          <p:cNvPr id="24" name="글상자 3-23"/>
          <p:cNvSpPr txBox="1"/>
          <p:nvPr/>
        </p:nvSpPr>
        <p:spPr>
          <a:xfrm>
            <a:off x="6391275" y="4025652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찾아보는 행동 자체를 안 한다</a:t>
            </a:r>
            <a:endParaRPr lang="ko-KR" sz="1725" dirty="0"/>
          </a:p>
        </p:txBody>
      </p:sp>
      <p:sp>
        <p:nvSpPr>
          <p:cNvPr id="25" name="글상자 3-24"/>
          <p:cNvSpPr txBox="1"/>
          <p:nvPr/>
        </p:nvSpPr>
        <p:spPr>
          <a:xfrm>
            <a:off x="6391275" y="4397127"/>
            <a:ext cx="5200650" cy="2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검색하면 해결되지만, 귀찮아서 결국 안 하게 된다.</a:t>
            </a:r>
            <a:endParaRPr lang="ko-KR" sz="1388" dirty="0"/>
          </a:p>
        </p:txBody>
      </p:sp>
      <p:sp>
        <p:nvSpPr>
          <p:cNvPr id="26" name="글상자 3-25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ko-KR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4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4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정의 — 데이터로 확인</a:t>
            </a:r>
            <a:endParaRPr lang="ko-KR" sz="1275" dirty="0"/>
          </a:p>
        </p:txBody>
      </p:sp>
      <p:sp>
        <p:nvSpPr>
          <p:cNvPr id="4" name="글상자 4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문제가 아니다: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중 4명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뉴스를 피한다</a:t>
            </a:r>
            <a:endParaRPr lang="ko-KR" sz="2700" dirty="0"/>
          </a:p>
        </p:txBody>
      </p:sp>
      <p:sp>
        <p:nvSpPr>
          <p:cNvPr id="5" name="글상자 4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로이터 저널리즘 연구소 「디지털 뉴스 리포트 2025」 — 48개국 약 10만 명 조사</a:t>
            </a:r>
            <a:endParaRPr lang="ko-KR" sz="1575" dirty="0"/>
          </a:p>
        </p:txBody>
      </p:sp>
      <p:sp>
        <p:nvSpPr>
          <p:cNvPr id="6" name="도형 4-5"/>
          <p:cNvSpPr/>
          <p:nvPr/>
        </p:nvSpPr>
        <p:spPr>
          <a:xfrm>
            <a:off x="609600" y="1726853"/>
            <a:ext cx="4604296" cy="1859756"/>
          </a:xfrm>
          <a:prstGeom prst="roundRect">
            <a:avLst>
              <a:gd name="adj" fmla="val 7170"/>
            </a:avLst>
          </a:prstGeom>
          <a:solidFill>
            <a:srgbClr val="FFF1EA"/>
          </a:solidFill>
          <a:ln w="9525">
            <a:solidFill>
              <a:srgbClr val="FFD7C4"/>
            </a:solidFill>
            <a:prstDash val="solid"/>
          </a:ln>
        </p:spPr>
      </p:sp>
      <p:sp>
        <p:nvSpPr>
          <p:cNvPr id="7" name="글상자 4-6"/>
          <p:cNvSpPr txBox="1"/>
          <p:nvPr/>
        </p:nvSpPr>
        <p:spPr>
          <a:xfrm>
            <a:off x="828675" y="1907828"/>
            <a:ext cx="439474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ko-KR" altLang="en-US" sz="48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r>
              <a:rPr lang="ko-KR" altLang="en-US" sz="195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ko-KR" sz="4800" dirty="0"/>
          </a:p>
        </p:txBody>
      </p:sp>
      <p:sp>
        <p:nvSpPr>
          <p:cNvPr id="8" name="글상자 4-7"/>
          <p:cNvSpPr txBox="1"/>
          <p:nvPr/>
        </p:nvSpPr>
        <p:spPr>
          <a:xfrm>
            <a:off x="828675" y="2612678"/>
            <a:ext cx="4291130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1"/>
              </a:lnSpc>
              <a:buNone/>
            </a:pP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"가끔 또는 자주 뉴스를 일부러 피한다"</a:t>
            </a:r>
            <a:endParaRPr lang="ko-KR" sz="1388" dirty="0"/>
          </a:p>
          <a:p>
            <a:pPr marL="0" indent="0" algn="l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이래 가장 높은 수준에 머물러 있음</a:t>
            </a:r>
            <a:endParaRPr lang="ko-KR" sz="1388" dirty="0"/>
          </a:p>
          <a:p>
            <a:pPr marL="0" indent="0" algn="l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(2017년 29% → 2024년 39% → 2025년 40%)</a:t>
            </a:r>
            <a:endParaRPr lang="ko-KR" sz="1388" dirty="0"/>
          </a:p>
        </p:txBody>
      </p:sp>
      <p:sp>
        <p:nvSpPr>
          <p:cNvPr id="9" name="도형 4-8"/>
          <p:cNvSpPr/>
          <p:nvPr/>
        </p:nvSpPr>
        <p:spPr>
          <a:xfrm>
            <a:off x="5366296" y="1726853"/>
            <a:ext cx="6216104" cy="2089249"/>
          </a:xfrm>
          <a:prstGeom prst="roundRect">
            <a:avLst>
              <a:gd name="adj" fmla="val 6383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0" name="글상자 4-9"/>
          <p:cNvSpPr txBox="1"/>
          <p:nvPr/>
        </p:nvSpPr>
        <p:spPr>
          <a:xfrm>
            <a:off x="5585371" y="1907828"/>
            <a:ext cx="60065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뉴스를 피하는 이유 (회피자 기준, 복수 응답)</a:t>
            </a:r>
            <a:endParaRPr lang="ko-KR" sz="1725" dirty="0"/>
          </a:p>
        </p:txBody>
      </p:sp>
      <p:sp>
        <p:nvSpPr>
          <p:cNvPr id="11" name="글상자 4-10"/>
          <p:cNvSpPr txBox="1"/>
          <p:nvPr/>
        </p:nvSpPr>
        <p:spPr>
          <a:xfrm>
            <a:off x="5585371" y="2355503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기분이 나빠져서</a:t>
            </a:r>
            <a:endParaRPr lang="ko-KR" sz="1350" dirty="0"/>
          </a:p>
        </p:txBody>
      </p:sp>
      <p:sp>
        <p:nvSpPr>
          <p:cNvPr id="12" name="도형 4-11"/>
          <p:cNvSpPr/>
          <p:nvPr/>
        </p:nvSpPr>
        <p:spPr>
          <a:xfrm>
            <a:off x="8080921" y="2336453"/>
            <a:ext cx="261565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13" name="도형 4-12"/>
          <p:cNvSpPr/>
          <p:nvPr/>
        </p:nvSpPr>
        <p:spPr>
          <a:xfrm>
            <a:off x="8080921" y="2336453"/>
            <a:ext cx="2040136" cy="266700"/>
          </a:xfrm>
          <a:prstGeom prst="roundRect">
            <a:avLst>
              <a:gd name="adj" fmla="val 21429"/>
            </a:avLst>
          </a:prstGeom>
          <a:solidFill>
            <a:srgbClr val="FF6A2B"/>
          </a:solidFill>
          <a:ln/>
        </p:spPr>
      </p:sp>
      <p:sp>
        <p:nvSpPr>
          <p:cNvPr id="14" name="글상자 4-13"/>
          <p:cNvSpPr txBox="1"/>
          <p:nvPr/>
        </p:nvSpPr>
        <p:spPr>
          <a:xfrm>
            <a:off x="10582275" y="2341215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ko-KR" sz="1500" dirty="0"/>
          </a:p>
        </p:txBody>
      </p:sp>
      <p:sp>
        <p:nvSpPr>
          <p:cNvPr id="15" name="글상자 4-14"/>
          <p:cNvSpPr txBox="1"/>
          <p:nvPr/>
        </p:nvSpPr>
        <p:spPr>
          <a:xfrm>
            <a:off x="5585371" y="2707928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양이 많아 지쳐서</a:t>
            </a:r>
            <a:endParaRPr lang="ko-KR" sz="1350" dirty="0"/>
          </a:p>
        </p:txBody>
      </p:sp>
      <p:sp>
        <p:nvSpPr>
          <p:cNvPr id="16" name="도형 4-15"/>
          <p:cNvSpPr/>
          <p:nvPr/>
        </p:nvSpPr>
        <p:spPr>
          <a:xfrm>
            <a:off x="8080921" y="2688878"/>
            <a:ext cx="261565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17" name="도형 4-16"/>
          <p:cNvSpPr/>
          <p:nvPr/>
        </p:nvSpPr>
        <p:spPr>
          <a:xfrm>
            <a:off x="8080921" y="2688878"/>
            <a:ext cx="1621631" cy="266700"/>
          </a:xfrm>
          <a:prstGeom prst="roundRect">
            <a:avLst>
              <a:gd name="adj" fmla="val 21429"/>
            </a:avLst>
          </a:prstGeom>
          <a:solidFill>
            <a:srgbClr val="FF6A2B"/>
          </a:solidFill>
          <a:ln/>
        </p:spPr>
      </p:sp>
      <p:sp>
        <p:nvSpPr>
          <p:cNvPr id="18" name="글상자 4-17"/>
          <p:cNvSpPr txBox="1"/>
          <p:nvPr/>
        </p:nvSpPr>
        <p:spPr>
          <a:xfrm>
            <a:off x="10582275" y="2693640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ko-KR" sz="1500" dirty="0"/>
          </a:p>
        </p:txBody>
      </p:sp>
      <p:sp>
        <p:nvSpPr>
          <p:cNvPr id="19" name="글상자 4-18"/>
          <p:cNvSpPr txBox="1"/>
          <p:nvPr/>
        </p:nvSpPr>
        <p:spPr>
          <a:xfrm>
            <a:off x="5585371" y="3088928"/>
            <a:ext cx="5951293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35세 미만은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삶과 상관없어 보인다"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"이해하기 너무 어렵다"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응답이 윗세대보다 뚜렷하게 많음</a:t>
            </a:r>
            <a:endParaRPr lang="ko-KR" sz="1388" dirty="0"/>
          </a:p>
        </p:txBody>
      </p:sp>
      <p:sp>
        <p:nvSpPr>
          <p:cNvPr id="20" name="도형 4-19"/>
          <p:cNvSpPr/>
          <p:nvPr/>
        </p:nvSpPr>
        <p:spPr>
          <a:xfrm>
            <a:off x="609600" y="5558433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21" name="글상자 4-20"/>
          <p:cNvSpPr txBox="1"/>
          <p:nvPr/>
        </p:nvSpPr>
        <p:spPr>
          <a:xfrm>
            <a:off x="838200" y="5701308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내가 느낀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재미없음 · P2 지침(흩어진 정보) · P3 어려움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세계적으로 확인되는 현상이다.</a:t>
            </a:r>
            <a:endParaRPr lang="ko-KR" sz="1575" dirty="0"/>
          </a:p>
        </p:txBody>
      </p:sp>
      <p:sp>
        <p:nvSpPr>
          <p:cNvPr id="22" name="글상자 4-21"/>
          <p:cNvSpPr txBox="1"/>
          <p:nvPr/>
        </p:nvSpPr>
        <p:spPr>
          <a:xfrm>
            <a:off x="609600" y="6318945"/>
            <a:ext cx="1045826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Reuters Institute, Digital News Report 2025 (2025.06) · Digital News Report 2024 (2024.06, Press Gazette 보도) · Statista, "Why People Actively Try to Avoid the News" (2025)</a:t>
            </a:r>
            <a:endParaRPr lang="ko-KR" sz="1050" dirty="0"/>
          </a:p>
        </p:txBody>
      </p:sp>
      <p:sp>
        <p:nvSpPr>
          <p:cNvPr id="23" name="글상자 4-22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ko-KR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5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5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정의 — 한국의 경우</a:t>
            </a:r>
            <a:endParaRPr lang="ko-KR" sz="1275" dirty="0"/>
          </a:p>
        </p:txBody>
      </p:sp>
      <p:sp>
        <p:nvSpPr>
          <p:cNvPr id="4" name="글상자 5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한국인은 뉴스를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찾아가지 않는다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눈앞에 보이는 것을 본다</a:t>
            </a:r>
            <a:endParaRPr lang="ko-KR" sz="2700" dirty="0"/>
          </a:p>
        </p:txBody>
      </p:sp>
      <p:sp>
        <p:nvSpPr>
          <p:cNvPr id="5" name="글상자 5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「디지털 뉴스 리포트 2026」 한국 결과 (한국언론진흥재단 분석, 2026년 6월)</a:t>
            </a:r>
            <a:endParaRPr lang="ko-KR" sz="1575" dirty="0"/>
          </a:p>
        </p:txBody>
      </p:sp>
      <p:sp>
        <p:nvSpPr>
          <p:cNvPr id="6" name="도형 5-5"/>
          <p:cNvSpPr/>
          <p:nvPr/>
        </p:nvSpPr>
        <p:spPr>
          <a:xfrm>
            <a:off x="609600" y="1726853"/>
            <a:ext cx="6115794" cy="3402806"/>
          </a:xfrm>
          <a:prstGeom prst="roundRect">
            <a:avLst>
              <a:gd name="adj" fmla="val 3919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글상자 5-6"/>
          <p:cNvSpPr txBox="1"/>
          <p:nvPr/>
        </p:nvSpPr>
        <p:spPr>
          <a:xfrm>
            <a:off x="828675" y="1907828"/>
            <a:ext cx="59062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어디로 뉴스를 보나요? (지난 1주일)</a:t>
            </a:r>
            <a:endParaRPr lang="ko-KR" sz="1725" dirty="0"/>
          </a:p>
        </p:txBody>
      </p:sp>
      <p:sp>
        <p:nvSpPr>
          <p:cNvPr id="8" name="글상자 5-7"/>
          <p:cNvSpPr txBox="1"/>
          <p:nvPr/>
        </p:nvSpPr>
        <p:spPr>
          <a:xfrm>
            <a:off x="828675" y="2336453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포털·검색 — 한국</a:t>
            </a:r>
            <a:endParaRPr lang="ko-KR" sz="1350" dirty="0"/>
          </a:p>
        </p:txBody>
      </p:sp>
      <p:sp>
        <p:nvSpPr>
          <p:cNvPr id="9" name="도형 5-8"/>
          <p:cNvSpPr/>
          <p:nvPr/>
        </p:nvSpPr>
        <p:spPr>
          <a:xfrm>
            <a:off x="3324225" y="2317403"/>
            <a:ext cx="251534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10" name="도형 5-9"/>
          <p:cNvSpPr/>
          <p:nvPr/>
        </p:nvSpPr>
        <p:spPr>
          <a:xfrm>
            <a:off x="3324225" y="2317403"/>
            <a:ext cx="1534269" cy="266700"/>
          </a:xfrm>
          <a:prstGeom prst="roundRect">
            <a:avLst>
              <a:gd name="adj" fmla="val 21429"/>
            </a:avLst>
          </a:prstGeom>
          <a:solidFill>
            <a:srgbClr val="FF6A2B"/>
          </a:solidFill>
          <a:ln/>
        </p:spPr>
      </p:sp>
      <p:sp>
        <p:nvSpPr>
          <p:cNvPr id="11" name="글상자 5-10"/>
          <p:cNvSpPr txBox="1"/>
          <p:nvPr/>
        </p:nvSpPr>
        <p:spPr>
          <a:xfrm>
            <a:off x="5725269" y="2322165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ko-KR" sz="1500" dirty="0"/>
          </a:p>
        </p:txBody>
      </p:sp>
      <p:sp>
        <p:nvSpPr>
          <p:cNvPr id="12" name="글상자 5-11"/>
          <p:cNvSpPr txBox="1"/>
          <p:nvPr/>
        </p:nvSpPr>
        <p:spPr>
          <a:xfrm>
            <a:off x="828675" y="2688878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포털·검색 — 48개국 평균</a:t>
            </a:r>
            <a:endParaRPr lang="ko-KR" sz="1350" dirty="0"/>
          </a:p>
        </p:txBody>
      </p:sp>
      <p:sp>
        <p:nvSpPr>
          <p:cNvPr id="13" name="도형 5-12"/>
          <p:cNvSpPr/>
          <p:nvPr/>
        </p:nvSpPr>
        <p:spPr>
          <a:xfrm>
            <a:off x="3324225" y="2669828"/>
            <a:ext cx="251534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14" name="도형 5-13"/>
          <p:cNvSpPr/>
          <p:nvPr/>
        </p:nvSpPr>
        <p:spPr>
          <a:xfrm>
            <a:off x="3324225" y="2669828"/>
            <a:ext cx="779711" cy="266700"/>
          </a:xfrm>
          <a:prstGeom prst="roundRect">
            <a:avLst>
              <a:gd name="adj" fmla="val 21429"/>
            </a:avLst>
          </a:prstGeom>
          <a:solidFill>
            <a:srgbClr val="B9C4D8"/>
          </a:solidFill>
          <a:ln/>
        </p:spPr>
      </p:sp>
      <p:sp>
        <p:nvSpPr>
          <p:cNvPr id="15" name="글상자 5-14"/>
          <p:cNvSpPr txBox="1"/>
          <p:nvPr/>
        </p:nvSpPr>
        <p:spPr>
          <a:xfrm>
            <a:off x="5725269" y="2674590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ko-KR" sz="1500" dirty="0"/>
          </a:p>
        </p:txBody>
      </p:sp>
      <p:sp>
        <p:nvSpPr>
          <p:cNvPr id="16" name="글상자 5-15"/>
          <p:cNvSpPr txBox="1"/>
          <p:nvPr/>
        </p:nvSpPr>
        <p:spPr>
          <a:xfrm>
            <a:off x="828675" y="3127028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언론사 직접 방문 — 한국</a:t>
            </a:r>
            <a:endParaRPr lang="ko-KR" sz="1350" dirty="0"/>
          </a:p>
        </p:txBody>
      </p:sp>
      <p:sp>
        <p:nvSpPr>
          <p:cNvPr id="17" name="도형 5-16"/>
          <p:cNvSpPr/>
          <p:nvPr/>
        </p:nvSpPr>
        <p:spPr>
          <a:xfrm>
            <a:off x="3324225" y="3107978"/>
            <a:ext cx="251534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18" name="도형 5-17"/>
          <p:cNvSpPr/>
          <p:nvPr/>
        </p:nvSpPr>
        <p:spPr>
          <a:xfrm>
            <a:off x="3324225" y="3107978"/>
            <a:ext cx="201216" cy="266700"/>
          </a:xfrm>
          <a:prstGeom prst="roundRect">
            <a:avLst>
              <a:gd name="adj" fmla="val 28402"/>
            </a:avLst>
          </a:prstGeom>
          <a:solidFill>
            <a:srgbClr val="FF6A2B"/>
          </a:solidFill>
          <a:ln/>
        </p:spPr>
      </p:sp>
      <p:sp>
        <p:nvSpPr>
          <p:cNvPr id="19" name="글상자 5-18"/>
          <p:cNvSpPr txBox="1"/>
          <p:nvPr/>
        </p:nvSpPr>
        <p:spPr>
          <a:xfrm>
            <a:off x="5725269" y="3112740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</a:t>
            </a:r>
            <a:endParaRPr lang="ko-KR" sz="1500" dirty="0"/>
          </a:p>
        </p:txBody>
      </p:sp>
      <p:sp>
        <p:nvSpPr>
          <p:cNvPr id="20" name="글상자 5-19"/>
          <p:cNvSpPr txBox="1"/>
          <p:nvPr/>
        </p:nvSpPr>
        <p:spPr>
          <a:xfrm>
            <a:off x="828675" y="3479453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언론사 직접 방문 — 평균</a:t>
            </a:r>
            <a:endParaRPr lang="ko-KR" sz="1350" dirty="0"/>
          </a:p>
        </p:txBody>
      </p:sp>
      <p:sp>
        <p:nvSpPr>
          <p:cNvPr id="21" name="도형 5-20"/>
          <p:cNvSpPr/>
          <p:nvPr/>
        </p:nvSpPr>
        <p:spPr>
          <a:xfrm>
            <a:off x="3324225" y="3460403"/>
            <a:ext cx="2515344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22" name="도형 5-21"/>
          <p:cNvSpPr/>
          <p:nvPr/>
        </p:nvSpPr>
        <p:spPr>
          <a:xfrm>
            <a:off x="3324225" y="3460403"/>
            <a:ext cx="553343" cy="266700"/>
          </a:xfrm>
          <a:prstGeom prst="roundRect">
            <a:avLst>
              <a:gd name="adj" fmla="val 21429"/>
            </a:avLst>
          </a:prstGeom>
          <a:solidFill>
            <a:srgbClr val="B9C4D8"/>
          </a:solidFill>
          <a:ln/>
        </p:spPr>
      </p:sp>
      <p:sp>
        <p:nvSpPr>
          <p:cNvPr id="23" name="글상자 5-22"/>
          <p:cNvSpPr txBox="1"/>
          <p:nvPr/>
        </p:nvSpPr>
        <p:spPr>
          <a:xfrm>
            <a:off x="5725269" y="3465165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22%</a:t>
            </a:r>
            <a:endParaRPr lang="ko-KR" sz="1500" dirty="0"/>
          </a:p>
        </p:txBody>
      </p:sp>
      <p:sp>
        <p:nvSpPr>
          <p:cNvPr id="24" name="글상자 5-23"/>
          <p:cNvSpPr txBox="1"/>
          <p:nvPr/>
        </p:nvSpPr>
        <p:spPr>
          <a:xfrm>
            <a:off x="828675" y="3822353"/>
            <a:ext cx="590624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ko-KR" altLang="en-US" sz="12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방문 8%는 48개국 중 뒤에서 두 번째</a:t>
            </a:r>
            <a:endParaRPr lang="ko-KR" sz="1275" dirty="0"/>
          </a:p>
        </p:txBody>
      </p:sp>
      <p:sp>
        <p:nvSpPr>
          <p:cNvPr id="25" name="도형 5-24"/>
          <p:cNvSpPr/>
          <p:nvPr/>
        </p:nvSpPr>
        <p:spPr>
          <a:xfrm>
            <a:off x="6877794" y="1726853"/>
            <a:ext cx="4704606" cy="1766888"/>
          </a:xfrm>
          <a:prstGeom prst="roundRect">
            <a:avLst>
              <a:gd name="adj" fmla="val 7547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6" name="도형 5-25"/>
          <p:cNvSpPr/>
          <p:nvPr/>
        </p:nvSpPr>
        <p:spPr>
          <a:xfrm>
            <a:off x="7096869" y="1907828"/>
            <a:ext cx="1169343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27" name="글상자 5-26"/>
          <p:cNvSpPr txBox="1"/>
          <p:nvPr/>
        </p:nvSpPr>
        <p:spPr>
          <a:xfrm>
            <a:off x="7201644" y="1936403"/>
            <a:ext cx="11883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뉴스 보기</a:t>
            </a:r>
            <a:endParaRPr lang="ko-KR" sz="1125" dirty="0"/>
          </a:p>
        </p:txBody>
      </p:sp>
      <p:sp>
        <p:nvSpPr>
          <p:cNvPr id="28" name="글상자 5-27"/>
          <p:cNvSpPr txBox="1"/>
          <p:nvPr/>
        </p:nvSpPr>
        <p:spPr>
          <a:xfrm>
            <a:off x="7096869" y="2250728"/>
            <a:ext cx="4495056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ko-KR" altLang="en-US" sz="345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7% → 14%</a:t>
            </a:r>
            <a:endParaRPr lang="ko-KR" sz="3450" dirty="0"/>
          </a:p>
        </p:txBody>
      </p:sp>
      <p:sp>
        <p:nvSpPr>
          <p:cNvPr id="29" name="글상자 5-28"/>
          <p:cNvSpPr txBox="1"/>
          <p:nvPr/>
        </p:nvSpPr>
        <p:spPr>
          <a:xfrm>
            <a:off x="7096869" y="2784128"/>
            <a:ext cx="439445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챗봇으로 뉴스를 보는 한국인,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만에 2배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(평균 10%보다 높음)</a:t>
            </a:r>
            <a:endParaRPr lang="ko-KR" sz="1388" dirty="0"/>
          </a:p>
        </p:txBody>
      </p:sp>
      <p:sp>
        <p:nvSpPr>
          <p:cNvPr id="30" name="도형 5-29"/>
          <p:cNvSpPr/>
          <p:nvPr/>
        </p:nvSpPr>
        <p:spPr>
          <a:xfrm>
            <a:off x="6877794" y="3627090"/>
            <a:ext cx="4704606" cy="1502569"/>
          </a:xfrm>
          <a:prstGeom prst="roundRect">
            <a:avLst>
              <a:gd name="adj" fmla="val 8875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1" name="도형 5-30"/>
          <p:cNvSpPr/>
          <p:nvPr/>
        </p:nvSpPr>
        <p:spPr>
          <a:xfrm>
            <a:off x="7096869" y="3808065"/>
            <a:ext cx="974229" cy="247650"/>
          </a:xfrm>
          <a:prstGeom prst="roundRect">
            <a:avLst>
              <a:gd name="adj" fmla="val 50000"/>
            </a:avLst>
          </a:prstGeom>
          <a:solidFill>
            <a:srgbClr val="E9EFFA"/>
          </a:solidFill>
          <a:ln/>
        </p:spPr>
      </p:sp>
      <p:sp>
        <p:nvSpPr>
          <p:cNvPr id="32" name="글상자 5-31"/>
          <p:cNvSpPr txBox="1"/>
          <p:nvPr/>
        </p:nvSpPr>
        <p:spPr>
          <a:xfrm>
            <a:off x="7201644" y="3836640"/>
            <a:ext cx="9932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신뢰도</a:t>
            </a:r>
            <a:endParaRPr lang="ko-KR" sz="1125" dirty="0"/>
          </a:p>
        </p:txBody>
      </p:sp>
      <p:sp>
        <p:nvSpPr>
          <p:cNvPr id="33" name="글상자 5-32"/>
          <p:cNvSpPr txBox="1"/>
          <p:nvPr/>
        </p:nvSpPr>
        <p:spPr>
          <a:xfrm>
            <a:off x="7096869" y="4150965"/>
            <a:ext cx="4495056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ko-KR" altLang="en-US" sz="3450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ko-KR" sz="3450" dirty="0"/>
          </a:p>
        </p:txBody>
      </p:sp>
      <p:sp>
        <p:nvSpPr>
          <p:cNvPr id="34" name="글상자 5-33"/>
          <p:cNvSpPr txBox="1"/>
          <p:nvPr/>
        </p:nvSpPr>
        <p:spPr>
          <a:xfrm>
            <a:off x="7096869" y="4684365"/>
            <a:ext cx="449505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48개국 평균 37%보다 낮음 →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확인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중요</a:t>
            </a:r>
            <a:endParaRPr lang="ko-KR" sz="1388" dirty="0"/>
          </a:p>
        </p:txBody>
      </p:sp>
      <p:sp>
        <p:nvSpPr>
          <p:cNvPr id="35" name="도형 5-34"/>
          <p:cNvSpPr/>
          <p:nvPr/>
        </p:nvSpPr>
        <p:spPr>
          <a:xfrm>
            <a:off x="609600" y="5386983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36" name="글상자 5-35"/>
          <p:cNvSpPr txBox="1"/>
          <p:nvPr/>
        </p:nvSpPr>
        <p:spPr>
          <a:xfrm>
            <a:off x="838200" y="5529858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찾아보지 않음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한국에서 특히 뚜렷하다. 그리고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정리해 주는 뉴스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이미 빠르게 받아들여지고 있다.</a:t>
            </a:r>
            <a:endParaRPr lang="ko-KR" sz="1575" dirty="0"/>
          </a:p>
        </p:txBody>
      </p:sp>
      <p:sp>
        <p:nvSpPr>
          <p:cNvPr id="37" name="글상자 5-36"/>
          <p:cNvSpPr txBox="1"/>
          <p:nvPr/>
        </p:nvSpPr>
        <p:spPr>
          <a:xfrm>
            <a:off x="609600" y="6318945"/>
            <a:ext cx="1045826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Reuters Institute, Digital News Report 2026 · 한국언론진흥재단 분석 (노컷뉴스 보도, 2026.06.16) · 참고: 한국언론진흥재단 「2025 언론수용자 조사」— 포털 뉴스 이용률 66.5% (2021년 79.2%에서 하락), 20~40대 이탈 뚜렷 (기자협회보 보도)</a:t>
            </a:r>
            <a:endParaRPr lang="ko-KR" sz="1050" dirty="0"/>
          </a:p>
        </p:txBody>
      </p:sp>
      <p:sp>
        <p:nvSpPr>
          <p:cNvPr id="38" name="글상자 5-37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ko-KR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6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6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핵심 통찰</a:t>
            </a:r>
            <a:endParaRPr lang="ko-KR" sz="1275" dirty="0"/>
          </a:p>
        </p:txBody>
      </p:sp>
      <p:sp>
        <p:nvSpPr>
          <p:cNvPr id="4" name="글상자 6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"찾으러 가는" 구조로는 실패한다</a:t>
            </a:r>
            <a:endParaRPr lang="ko-KR" sz="2700" dirty="0"/>
          </a:p>
        </p:txBody>
      </p:sp>
      <p:sp>
        <p:nvSpPr>
          <p:cNvPr id="5" name="글상자 6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데이터를 합치면, 해결의 방향은 두 가지로 좁혀집니다.</a:t>
            </a:r>
            <a:endParaRPr lang="ko-KR" sz="1575" dirty="0"/>
          </a:p>
        </p:txBody>
      </p:sp>
      <p:sp>
        <p:nvSpPr>
          <p:cNvPr id="6" name="도형 6-5"/>
          <p:cNvSpPr/>
          <p:nvPr/>
        </p:nvSpPr>
        <p:spPr>
          <a:xfrm>
            <a:off x="609600" y="1726853"/>
            <a:ext cx="5410200" cy="1651099"/>
          </a:xfrm>
          <a:prstGeom prst="roundRect">
            <a:avLst>
              <a:gd name="adj" fmla="val 807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도형 6-6"/>
          <p:cNvSpPr/>
          <p:nvPr/>
        </p:nvSpPr>
        <p:spPr>
          <a:xfrm>
            <a:off x="876300" y="1907828"/>
            <a:ext cx="688479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8" name="글상자 6-7"/>
          <p:cNvSpPr txBox="1"/>
          <p:nvPr/>
        </p:nvSpPr>
        <p:spPr>
          <a:xfrm>
            <a:off x="981075" y="1936403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①</a:t>
            </a:r>
            <a:endParaRPr lang="ko-KR" sz="1125" dirty="0"/>
          </a:p>
        </p:txBody>
      </p:sp>
      <p:sp>
        <p:nvSpPr>
          <p:cNvPr id="9" name="글상자 6-8"/>
          <p:cNvSpPr txBox="1"/>
          <p:nvPr/>
        </p:nvSpPr>
        <p:spPr>
          <a:xfrm>
            <a:off x="876300" y="2250728"/>
            <a:ext cx="515302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ko-KR" altLang="en-US" sz="19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뉴스가 </a:t>
            </a:r>
            <a:r>
              <a:rPr lang="ko-KR" altLang="en-US" sz="195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찾아와야</a:t>
            </a:r>
            <a:r>
              <a:rPr lang="ko-KR" altLang="en-US" sz="19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ko-KR" sz="1950" dirty="0"/>
          </a:p>
        </p:txBody>
      </p:sp>
      <p:sp>
        <p:nvSpPr>
          <p:cNvPr id="10" name="글상자 6-9"/>
          <p:cNvSpPr txBox="1"/>
          <p:nvPr/>
        </p:nvSpPr>
        <p:spPr>
          <a:xfrm>
            <a:off x="876300" y="2650778"/>
            <a:ext cx="507215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찾아가지 않는 사람(P4)에게는 검색창이 아니라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필요하다.</a:t>
            </a:r>
            <a:endParaRPr lang="ko-KR" sz="1388" dirty="0"/>
          </a:p>
        </p:txBody>
      </p:sp>
      <p:sp>
        <p:nvSpPr>
          <p:cNvPr id="11" name="도형 6-10"/>
          <p:cNvSpPr/>
          <p:nvPr/>
        </p:nvSpPr>
        <p:spPr>
          <a:xfrm>
            <a:off x="6172200" y="1726853"/>
            <a:ext cx="5410200" cy="1651099"/>
          </a:xfrm>
          <a:prstGeom prst="roundRect">
            <a:avLst>
              <a:gd name="adj" fmla="val 8076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2" name="도형 6-11"/>
          <p:cNvSpPr/>
          <p:nvPr/>
        </p:nvSpPr>
        <p:spPr>
          <a:xfrm>
            <a:off x="6438900" y="1907828"/>
            <a:ext cx="688479" cy="247650"/>
          </a:xfrm>
          <a:prstGeom prst="roundRect">
            <a:avLst>
              <a:gd name="adj" fmla="val 50000"/>
            </a:avLst>
          </a:prstGeom>
          <a:solidFill>
            <a:srgbClr val="E9EFFA"/>
          </a:solidFill>
          <a:ln/>
        </p:spPr>
      </p:sp>
      <p:sp>
        <p:nvSpPr>
          <p:cNvPr id="13" name="글상자 6-12"/>
          <p:cNvSpPr txBox="1"/>
          <p:nvPr/>
        </p:nvSpPr>
        <p:spPr>
          <a:xfrm>
            <a:off x="6543675" y="1936403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②</a:t>
            </a:r>
            <a:endParaRPr lang="ko-KR" sz="1125" dirty="0"/>
          </a:p>
        </p:txBody>
      </p:sp>
      <p:sp>
        <p:nvSpPr>
          <p:cNvPr id="14" name="글상자 6-13"/>
          <p:cNvSpPr txBox="1"/>
          <p:nvPr/>
        </p:nvSpPr>
        <p:spPr>
          <a:xfrm>
            <a:off x="6438900" y="2250728"/>
            <a:ext cx="515302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ko-KR" altLang="en-US" sz="19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문장이 </a:t>
            </a:r>
            <a:r>
              <a:rPr lang="ko-KR" altLang="en-US" sz="1950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재미있어야</a:t>
            </a:r>
            <a:r>
              <a:rPr lang="ko-KR" altLang="en-US" sz="19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ko-KR" sz="1950" dirty="0"/>
          </a:p>
        </p:txBody>
      </p:sp>
      <p:sp>
        <p:nvSpPr>
          <p:cNvPr id="15" name="글상자 6-14"/>
          <p:cNvSpPr txBox="1"/>
          <p:nvPr/>
        </p:nvSpPr>
        <p:spPr>
          <a:xfrm>
            <a:off x="6438900" y="2650778"/>
            <a:ext cx="5072158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재미없으면(P1) 누르지 않는다. 눌렀을 때는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충분하고 쉬운 정보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(P2·P3)가 있어야 한다.</a:t>
            </a:r>
            <a:endParaRPr lang="ko-KR" sz="1388" dirty="0"/>
          </a:p>
        </p:txBody>
      </p:sp>
      <p:sp>
        <p:nvSpPr>
          <p:cNvPr id="16" name="도형 6-15"/>
          <p:cNvSpPr/>
          <p:nvPr/>
        </p:nvSpPr>
        <p:spPr>
          <a:xfrm>
            <a:off x="609600" y="3587502"/>
            <a:ext cx="10972800" cy="1828800"/>
          </a:xfrm>
          <a:prstGeom prst="roundRect">
            <a:avLst>
              <a:gd name="adj" fmla="val 729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7" name="글상자 6-16"/>
          <p:cNvSpPr txBox="1"/>
          <p:nvPr/>
        </p:nvSpPr>
        <p:spPr>
          <a:xfrm>
            <a:off x="828675" y="3768477"/>
            <a:ext cx="107632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AI 뉴스 기능 중 가장 원하는 것 (48개국, 2025)</a:t>
            </a:r>
            <a:endParaRPr lang="ko-KR" sz="1725" dirty="0"/>
          </a:p>
        </p:txBody>
      </p:sp>
      <p:sp>
        <p:nvSpPr>
          <p:cNvPr id="18" name="글상자 6-17"/>
          <p:cNvSpPr txBox="1"/>
          <p:nvPr/>
        </p:nvSpPr>
        <p:spPr>
          <a:xfrm>
            <a:off x="828675" y="4197102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요약</a:t>
            </a:r>
            <a:endParaRPr lang="ko-KR" sz="1350" dirty="0"/>
          </a:p>
        </p:txBody>
      </p:sp>
      <p:sp>
        <p:nvSpPr>
          <p:cNvPr id="19" name="도형 6-18"/>
          <p:cNvSpPr/>
          <p:nvPr/>
        </p:nvSpPr>
        <p:spPr>
          <a:xfrm>
            <a:off x="3324225" y="4178052"/>
            <a:ext cx="7372350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20" name="도형 6-19"/>
          <p:cNvSpPr/>
          <p:nvPr/>
        </p:nvSpPr>
        <p:spPr>
          <a:xfrm>
            <a:off x="3324225" y="4178052"/>
            <a:ext cx="1990427" cy="266700"/>
          </a:xfrm>
          <a:prstGeom prst="roundRect">
            <a:avLst>
              <a:gd name="adj" fmla="val 21429"/>
            </a:avLst>
          </a:prstGeom>
          <a:solidFill>
            <a:srgbClr val="FF6A2B"/>
          </a:solidFill>
          <a:ln/>
        </p:spPr>
      </p:sp>
      <p:sp>
        <p:nvSpPr>
          <p:cNvPr id="21" name="글상자 6-20"/>
          <p:cNvSpPr txBox="1"/>
          <p:nvPr/>
        </p:nvSpPr>
        <p:spPr>
          <a:xfrm>
            <a:off x="10582275" y="4182814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27%</a:t>
            </a:r>
            <a:endParaRPr lang="ko-KR" sz="1500" dirty="0"/>
          </a:p>
        </p:txBody>
      </p:sp>
      <p:sp>
        <p:nvSpPr>
          <p:cNvPr id="22" name="글상자 6-21"/>
          <p:cNvSpPr txBox="1"/>
          <p:nvPr/>
        </p:nvSpPr>
        <p:spPr>
          <a:xfrm>
            <a:off x="828675" y="4549527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endParaRPr lang="ko-KR" sz="1350" dirty="0"/>
          </a:p>
        </p:txBody>
      </p:sp>
      <p:sp>
        <p:nvSpPr>
          <p:cNvPr id="23" name="도형 6-22"/>
          <p:cNvSpPr/>
          <p:nvPr/>
        </p:nvSpPr>
        <p:spPr>
          <a:xfrm>
            <a:off x="3324225" y="4530477"/>
            <a:ext cx="7372350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24" name="도형 6-23"/>
          <p:cNvSpPr/>
          <p:nvPr/>
        </p:nvSpPr>
        <p:spPr>
          <a:xfrm>
            <a:off x="3324225" y="4530477"/>
            <a:ext cx="1769269" cy="266700"/>
          </a:xfrm>
          <a:prstGeom prst="roundRect">
            <a:avLst>
              <a:gd name="adj" fmla="val 21429"/>
            </a:avLst>
          </a:prstGeom>
          <a:solidFill>
            <a:srgbClr val="B9C4D8"/>
          </a:solidFill>
          <a:ln/>
        </p:spPr>
      </p:sp>
      <p:sp>
        <p:nvSpPr>
          <p:cNvPr id="25" name="글상자 6-24"/>
          <p:cNvSpPr txBox="1"/>
          <p:nvPr/>
        </p:nvSpPr>
        <p:spPr>
          <a:xfrm>
            <a:off x="10582275" y="4535239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24%</a:t>
            </a:r>
            <a:endParaRPr lang="ko-KR" sz="1500" dirty="0"/>
          </a:p>
        </p:txBody>
      </p:sp>
      <p:sp>
        <p:nvSpPr>
          <p:cNvPr id="26" name="글상자 6-25"/>
          <p:cNvSpPr txBox="1"/>
          <p:nvPr/>
        </p:nvSpPr>
        <p:spPr>
          <a:xfrm>
            <a:off x="828675" y="4901952"/>
            <a:ext cx="2609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추천·뉴스 알림</a:t>
            </a:r>
            <a:endParaRPr lang="ko-KR" sz="1350" dirty="0"/>
          </a:p>
        </p:txBody>
      </p:sp>
      <p:sp>
        <p:nvSpPr>
          <p:cNvPr id="27" name="도형 6-26"/>
          <p:cNvSpPr/>
          <p:nvPr/>
        </p:nvSpPr>
        <p:spPr>
          <a:xfrm>
            <a:off x="3324225" y="4882902"/>
            <a:ext cx="7372350" cy="2667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/>
        </p:spPr>
      </p:sp>
      <p:sp>
        <p:nvSpPr>
          <p:cNvPr id="28" name="도형 6-27"/>
          <p:cNvSpPr/>
          <p:nvPr/>
        </p:nvSpPr>
        <p:spPr>
          <a:xfrm>
            <a:off x="3324225" y="4882902"/>
            <a:ext cx="1548110" cy="266700"/>
          </a:xfrm>
          <a:prstGeom prst="roundRect">
            <a:avLst>
              <a:gd name="adj" fmla="val 21429"/>
            </a:avLst>
          </a:prstGeom>
          <a:solidFill>
            <a:srgbClr val="FF6A2B"/>
          </a:solidFill>
          <a:ln/>
        </p:spPr>
      </p:sp>
      <p:sp>
        <p:nvSpPr>
          <p:cNvPr id="29" name="글상자 6-28"/>
          <p:cNvSpPr txBox="1"/>
          <p:nvPr/>
        </p:nvSpPr>
        <p:spPr>
          <a:xfrm>
            <a:off x="10582275" y="4887664"/>
            <a:ext cx="78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21%</a:t>
            </a:r>
            <a:endParaRPr lang="ko-KR" sz="1500" dirty="0"/>
          </a:p>
        </p:txBody>
      </p:sp>
      <p:sp>
        <p:nvSpPr>
          <p:cNvPr id="30" name="글상자 6-29"/>
          <p:cNvSpPr txBox="1"/>
          <p:nvPr/>
        </p:nvSpPr>
        <p:spPr>
          <a:xfrm>
            <a:off x="609600" y="6512272"/>
            <a:ext cx="10382250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Reuters Institute, Digital News Report 2025 — AI와 개인화 뉴스 (Nieman Lab 보도, 2025.06)</a:t>
            </a:r>
            <a:endParaRPr lang="ko-KR" sz="1050" dirty="0"/>
          </a:p>
        </p:txBody>
      </p:sp>
      <p:sp>
        <p:nvSpPr>
          <p:cNvPr id="31" name="글상자 6-30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ko-KR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7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7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</a:t>
            </a:r>
            <a:endParaRPr lang="ko-KR" sz="1275" dirty="0"/>
          </a:p>
        </p:txBody>
      </p:sp>
      <p:sp>
        <p:nvSpPr>
          <p:cNvPr id="4" name="글상자 7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4개 → 해결책 4개,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하나씩 정확히 연결</a:t>
            </a:r>
            <a:endParaRPr lang="ko-KR" sz="2700" dirty="0"/>
          </a:p>
        </p:txBody>
      </p:sp>
      <p:sp>
        <p:nvSpPr>
          <p:cNvPr id="5" name="글상자 7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기능은 앞에서 정의한 문제에서 출발합니다.</a:t>
            </a:r>
            <a:endParaRPr lang="ko-KR" sz="1575" dirty="0"/>
          </a:p>
        </p:txBody>
      </p:sp>
      <p:sp>
        <p:nvSpPr>
          <p:cNvPr id="6" name="도형 7-5"/>
          <p:cNvSpPr/>
          <p:nvPr/>
        </p:nvSpPr>
        <p:spPr>
          <a:xfrm>
            <a:off x="609600" y="1726853"/>
            <a:ext cx="4522291" cy="786110"/>
          </a:xfrm>
          <a:prstGeom prst="roundRect">
            <a:avLst>
              <a:gd name="adj" fmla="val 14540"/>
            </a:avLst>
          </a:prstGeom>
          <a:solidFill>
            <a:srgbClr val="FDEAEA"/>
          </a:solidFill>
          <a:ln w="9525">
            <a:solidFill>
              <a:srgbClr val="F4CCCC"/>
            </a:solidFill>
            <a:prstDash val="solid"/>
          </a:ln>
        </p:spPr>
      </p:sp>
      <p:sp>
        <p:nvSpPr>
          <p:cNvPr id="7" name="글상자 7-6"/>
          <p:cNvSpPr txBox="1"/>
          <p:nvPr/>
        </p:nvSpPr>
        <p:spPr>
          <a:xfrm>
            <a:off x="790575" y="2159645"/>
            <a:ext cx="4388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없는 기사가 먼저 보임</a:t>
            </a:r>
            <a:endParaRPr lang="ko-KR" sz="1350" dirty="0"/>
          </a:p>
        </p:txBody>
      </p:sp>
      <p:sp>
        <p:nvSpPr>
          <p:cNvPr id="8" name="글상자 7-7"/>
          <p:cNvSpPr txBox="1"/>
          <p:nvPr/>
        </p:nvSpPr>
        <p:spPr>
          <a:xfrm>
            <a:off x="790575" y="1841153"/>
            <a:ext cx="438894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재미가 없다</a:t>
            </a:r>
            <a:endParaRPr lang="ko-KR" sz="1575" dirty="0"/>
          </a:p>
        </p:txBody>
      </p:sp>
      <p:sp>
        <p:nvSpPr>
          <p:cNvPr id="9" name="글상자 7-8"/>
          <p:cNvSpPr txBox="1"/>
          <p:nvPr/>
        </p:nvSpPr>
        <p:spPr>
          <a:xfrm>
            <a:off x="5221426" y="1726853"/>
            <a:ext cx="392430" cy="78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10" name="도형 7-9"/>
          <p:cNvSpPr/>
          <p:nvPr/>
        </p:nvSpPr>
        <p:spPr>
          <a:xfrm>
            <a:off x="5703391" y="1726853"/>
            <a:ext cx="5879009" cy="786110"/>
          </a:xfrm>
          <a:prstGeom prst="roundRect">
            <a:avLst>
              <a:gd name="adj" fmla="val 14540"/>
            </a:avLst>
          </a:prstGeom>
          <a:solidFill>
            <a:srgbClr val="E6F6EF"/>
          </a:solidFill>
          <a:ln w="9525">
            <a:solidFill>
              <a:srgbClr val="C6EADB"/>
            </a:solidFill>
            <a:prstDash val="solid"/>
          </a:ln>
        </p:spPr>
      </p:sp>
      <p:sp>
        <p:nvSpPr>
          <p:cNvPr id="11" name="글상자 7-10"/>
          <p:cNvSpPr txBox="1"/>
          <p:nvPr/>
        </p:nvSpPr>
        <p:spPr>
          <a:xfrm>
            <a:off x="5884366" y="2159645"/>
            <a:ext cx="57456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분야 → 깊은 분야(예: 과학 → 우주)까지 골라 좁게 맞춤</a:t>
            </a:r>
            <a:endParaRPr lang="ko-KR" sz="1350" dirty="0"/>
          </a:p>
        </p:txBody>
      </p:sp>
      <p:sp>
        <p:nvSpPr>
          <p:cNvPr id="12" name="글상자 7-11"/>
          <p:cNvSpPr txBox="1"/>
          <p:nvPr/>
        </p:nvSpPr>
        <p:spPr>
          <a:xfrm>
            <a:off x="5884366" y="1841153"/>
            <a:ext cx="574565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관심 분야 선택 + 3개 페이지</a:t>
            </a:r>
            <a:endParaRPr lang="ko-KR" sz="1575" dirty="0"/>
          </a:p>
        </p:txBody>
      </p:sp>
      <p:sp>
        <p:nvSpPr>
          <p:cNvPr id="13" name="도형 7-12"/>
          <p:cNvSpPr/>
          <p:nvPr/>
        </p:nvSpPr>
        <p:spPr>
          <a:xfrm>
            <a:off x="609600" y="2608213"/>
            <a:ext cx="4522291" cy="786110"/>
          </a:xfrm>
          <a:prstGeom prst="roundRect">
            <a:avLst>
              <a:gd name="adj" fmla="val 14540"/>
            </a:avLst>
          </a:prstGeom>
          <a:solidFill>
            <a:srgbClr val="FDEAEA"/>
          </a:solidFill>
          <a:ln w="9525">
            <a:solidFill>
              <a:srgbClr val="F4CCCC"/>
            </a:solidFill>
            <a:prstDash val="solid"/>
          </a:ln>
        </p:spPr>
      </p:sp>
      <p:sp>
        <p:nvSpPr>
          <p:cNvPr id="14" name="글상자 7-13"/>
          <p:cNvSpPr txBox="1"/>
          <p:nvPr/>
        </p:nvSpPr>
        <p:spPr>
          <a:xfrm>
            <a:off x="790575" y="3041005"/>
            <a:ext cx="4388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하나로는 결론이 없음</a:t>
            </a:r>
            <a:endParaRPr lang="ko-KR" sz="1350" dirty="0"/>
          </a:p>
        </p:txBody>
      </p:sp>
      <p:sp>
        <p:nvSpPr>
          <p:cNvPr id="15" name="글상자 7-14"/>
          <p:cNvSpPr txBox="1"/>
          <p:nvPr/>
        </p:nvSpPr>
        <p:spPr>
          <a:xfrm>
            <a:off x="790575" y="2722513"/>
            <a:ext cx="438894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부실하고 흩어져 있다</a:t>
            </a:r>
            <a:endParaRPr lang="ko-KR" sz="1575" dirty="0"/>
          </a:p>
        </p:txBody>
      </p:sp>
      <p:sp>
        <p:nvSpPr>
          <p:cNvPr id="16" name="글상자 7-15"/>
          <p:cNvSpPr txBox="1"/>
          <p:nvPr/>
        </p:nvSpPr>
        <p:spPr>
          <a:xfrm>
            <a:off x="5221426" y="2608213"/>
            <a:ext cx="392430" cy="78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17" name="도형 7-16"/>
          <p:cNvSpPr/>
          <p:nvPr/>
        </p:nvSpPr>
        <p:spPr>
          <a:xfrm>
            <a:off x="5703391" y="2608213"/>
            <a:ext cx="5879009" cy="786110"/>
          </a:xfrm>
          <a:prstGeom prst="roundRect">
            <a:avLst>
              <a:gd name="adj" fmla="val 14540"/>
            </a:avLst>
          </a:prstGeom>
          <a:solidFill>
            <a:srgbClr val="E6F6EF"/>
          </a:solidFill>
          <a:ln w="9525">
            <a:solidFill>
              <a:srgbClr val="C6EADB"/>
            </a:solidFill>
            <a:prstDash val="solid"/>
          </a:ln>
        </p:spPr>
      </p:sp>
      <p:sp>
        <p:nvSpPr>
          <p:cNvPr id="18" name="글상자 7-17"/>
          <p:cNvSpPr txBox="1"/>
          <p:nvPr/>
        </p:nvSpPr>
        <p:spPr>
          <a:xfrm>
            <a:off x="5884366" y="3041005"/>
            <a:ext cx="57456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사건의 여러 기사를 AI가 한 편으로 정리 + 출처 링크</a:t>
            </a:r>
            <a:endParaRPr lang="ko-KR" sz="1350" dirty="0"/>
          </a:p>
        </p:txBody>
      </p:sp>
      <p:sp>
        <p:nvSpPr>
          <p:cNvPr id="19" name="글상자 7-18"/>
          <p:cNvSpPr txBox="1"/>
          <p:nvPr/>
        </p:nvSpPr>
        <p:spPr>
          <a:xfrm>
            <a:off x="5884366" y="2722513"/>
            <a:ext cx="574565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기사 (기사 덩어리)</a:t>
            </a:r>
            <a:endParaRPr lang="ko-KR" sz="1575" dirty="0"/>
          </a:p>
        </p:txBody>
      </p:sp>
      <p:sp>
        <p:nvSpPr>
          <p:cNvPr id="20" name="도형 7-19"/>
          <p:cNvSpPr/>
          <p:nvPr/>
        </p:nvSpPr>
        <p:spPr>
          <a:xfrm>
            <a:off x="609600" y="3489573"/>
            <a:ext cx="4522291" cy="786110"/>
          </a:xfrm>
          <a:prstGeom prst="roundRect">
            <a:avLst>
              <a:gd name="adj" fmla="val 14540"/>
            </a:avLst>
          </a:prstGeom>
          <a:solidFill>
            <a:srgbClr val="FDEAEA"/>
          </a:solidFill>
          <a:ln w="9525">
            <a:solidFill>
              <a:srgbClr val="F4CCCC"/>
            </a:solidFill>
            <a:prstDash val="solid"/>
          </a:ln>
        </p:spPr>
      </p:sp>
      <p:sp>
        <p:nvSpPr>
          <p:cNvPr id="21" name="글상자 7-20"/>
          <p:cNvSpPr txBox="1"/>
          <p:nvPr/>
        </p:nvSpPr>
        <p:spPr>
          <a:xfrm>
            <a:off x="790575" y="3922365"/>
            <a:ext cx="4388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수준보다 전문적</a:t>
            </a:r>
            <a:endParaRPr lang="ko-KR" sz="1350" dirty="0"/>
          </a:p>
        </p:txBody>
      </p:sp>
      <p:sp>
        <p:nvSpPr>
          <p:cNvPr id="22" name="글상자 7-21"/>
          <p:cNvSpPr txBox="1"/>
          <p:nvPr/>
        </p:nvSpPr>
        <p:spPr>
          <a:xfrm>
            <a:off x="790575" y="3603873"/>
            <a:ext cx="438894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너무 어렵다</a:t>
            </a:r>
            <a:endParaRPr lang="ko-KR" sz="1575" dirty="0"/>
          </a:p>
        </p:txBody>
      </p:sp>
      <p:sp>
        <p:nvSpPr>
          <p:cNvPr id="23" name="글상자 7-22"/>
          <p:cNvSpPr txBox="1"/>
          <p:nvPr/>
        </p:nvSpPr>
        <p:spPr>
          <a:xfrm>
            <a:off x="5221426" y="3489573"/>
            <a:ext cx="392430" cy="78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24" name="도형 7-23"/>
          <p:cNvSpPr/>
          <p:nvPr/>
        </p:nvSpPr>
        <p:spPr>
          <a:xfrm>
            <a:off x="5703391" y="3489573"/>
            <a:ext cx="5879009" cy="786110"/>
          </a:xfrm>
          <a:prstGeom prst="roundRect">
            <a:avLst>
              <a:gd name="adj" fmla="val 14540"/>
            </a:avLst>
          </a:prstGeom>
          <a:solidFill>
            <a:srgbClr val="E6F6EF"/>
          </a:solidFill>
          <a:ln w="9525">
            <a:solidFill>
              <a:srgbClr val="C6EADB"/>
            </a:solidFill>
            <a:prstDash val="solid"/>
          </a:ln>
        </p:spPr>
      </p:sp>
      <p:sp>
        <p:nvSpPr>
          <p:cNvPr id="25" name="글상자 7-24"/>
          <p:cNvSpPr txBox="1"/>
          <p:nvPr/>
        </p:nvSpPr>
        <p:spPr>
          <a:xfrm>
            <a:off x="5884366" y="3922365"/>
            <a:ext cx="57456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밑줄 친 단어를 탭(터치)하면 쉬운 설명</a:t>
            </a:r>
            <a:endParaRPr lang="ko-KR" sz="1350" dirty="0"/>
          </a:p>
        </p:txBody>
      </p:sp>
      <p:sp>
        <p:nvSpPr>
          <p:cNvPr id="26" name="글상자 7-25"/>
          <p:cNvSpPr txBox="1"/>
          <p:nvPr/>
        </p:nvSpPr>
        <p:spPr>
          <a:xfrm>
            <a:off x="5884366" y="3603873"/>
            <a:ext cx="574565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단어 해설</a:t>
            </a:r>
            <a:endParaRPr lang="ko-KR" sz="1575" dirty="0"/>
          </a:p>
        </p:txBody>
      </p:sp>
      <p:sp>
        <p:nvSpPr>
          <p:cNvPr id="27" name="도형 7-26"/>
          <p:cNvSpPr/>
          <p:nvPr/>
        </p:nvSpPr>
        <p:spPr>
          <a:xfrm>
            <a:off x="609600" y="4370933"/>
            <a:ext cx="4522291" cy="786110"/>
          </a:xfrm>
          <a:prstGeom prst="roundRect">
            <a:avLst>
              <a:gd name="adj" fmla="val 14540"/>
            </a:avLst>
          </a:prstGeom>
          <a:solidFill>
            <a:srgbClr val="FDEAEA"/>
          </a:solidFill>
          <a:ln w="9525">
            <a:solidFill>
              <a:srgbClr val="F4CCCC"/>
            </a:solidFill>
            <a:prstDash val="solid"/>
          </a:ln>
        </p:spPr>
      </p:sp>
      <p:sp>
        <p:nvSpPr>
          <p:cNvPr id="28" name="글상자 7-27"/>
          <p:cNvSpPr txBox="1"/>
          <p:nvPr/>
        </p:nvSpPr>
        <p:spPr>
          <a:xfrm>
            <a:off x="790575" y="4803725"/>
            <a:ext cx="4388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귀찮아서 검색을 안 함</a:t>
            </a:r>
            <a:endParaRPr lang="ko-KR" sz="1350" dirty="0"/>
          </a:p>
        </p:txBody>
      </p:sp>
      <p:sp>
        <p:nvSpPr>
          <p:cNvPr id="29" name="글상자 7-28"/>
          <p:cNvSpPr txBox="1"/>
          <p:nvPr/>
        </p:nvSpPr>
        <p:spPr>
          <a:xfrm>
            <a:off x="790575" y="4485233"/>
            <a:ext cx="4388941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찾아보지 않는다</a:t>
            </a:r>
            <a:endParaRPr lang="ko-KR" sz="1575" dirty="0"/>
          </a:p>
        </p:txBody>
      </p:sp>
      <p:sp>
        <p:nvSpPr>
          <p:cNvPr id="30" name="글상자 7-29"/>
          <p:cNvSpPr txBox="1"/>
          <p:nvPr/>
        </p:nvSpPr>
        <p:spPr>
          <a:xfrm>
            <a:off x="5221426" y="4370933"/>
            <a:ext cx="392430" cy="78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31" name="도형 7-30"/>
          <p:cNvSpPr/>
          <p:nvPr/>
        </p:nvSpPr>
        <p:spPr>
          <a:xfrm>
            <a:off x="5703391" y="4370933"/>
            <a:ext cx="5879009" cy="786110"/>
          </a:xfrm>
          <a:prstGeom prst="roundRect">
            <a:avLst>
              <a:gd name="adj" fmla="val 14540"/>
            </a:avLst>
          </a:prstGeom>
          <a:solidFill>
            <a:srgbClr val="E6F6EF"/>
          </a:solidFill>
          <a:ln w="9525">
            <a:solidFill>
              <a:srgbClr val="C6EADB"/>
            </a:solidFill>
            <a:prstDash val="solid"/>
          </a:ln>
        </p:spPr>
      </p:sp>
      <p:sp>
        <p:nvSpPr>
          <p:cNvPr id="32" name="글상자 7-31"/>
          <p:cNvSpPr txBox="1"/>
          <p:nvPr/>
        </p:nvSpPr>
        <p:spPr>
          <a:xfrm>
            <a:off x="5884366" y="4803725"/>
            <a:ext cx="57456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3번(7·12·19시) 눌러보고 싶은 한 문장을 먼저 보냄</a:t>
            </a:r>
            <a:endParaRPr lang="ko-KR" sz="1350" dirty="0"/>
          </a:p>
        </p:txBody>
      </p:sp>
      <p:sp>
        <p:nvSpPr>
          <p:cNvPr id="33" name="글상자 7-32"/>
          <p:cNvSpPr txBox="1"/>
          <p:nvPr/>
        </p:nvSpPr>
        <p:spPr>
          <a:xfrm>
            <a:off x="5884366" y="4485233"/>
            <a:ext cx="574565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어그로 한 줄 알림</a:t>
            </a:r>
            <a:endParaRPr lang="ko-KR" sz="1575" dirty="0"/>
          </a:p>
        </p:txBody>
      </p:sp>
      <p:sp>
        <p:nvSpPr>
          <p:cNvPr id="34" name="글상자 7-33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ko-KR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8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8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 — 사용 흐름</a:t>
            </a:r>
            <a:endParaRPr lang="ko-KR" sz="1275" dirty="0"/>
          </a:p>
        </p:txBody>
      </p:sp>
      <p:sp>
        <p:nvSpPr>
          <p:cNvPr id="4" name="글상자 8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할 일은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알림을 누르는 것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</a:t>
            </a:r>
            <a:endParaRPr lang="ko-KR" sz="2700" dirty="0"/>
          </a:p>
        </p:txBody>
      </p:sp>
      <p:sp>
        <p:nvSpPr>
          <p:cNvPr id="5" name="도형 8-4"/>
          <p:cNvSpPr/>
          <p:nvPr/>
        </p:nvSpPr>
        <p:spPr>
          <a:xfrm>
            <a:off x="609600" y="1274415"/>
            <a:ext cx="5410200" cy="753368"/>
          </a:xfrm>
          <a:prstGeom prst="roundRect">
            <a:avLst>
              <a:gd name="adj" fmla="val 151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도형 8-5"/>
          <p:cNvSpPr/>
          <p:nvPr/>
        </p:nvSpPr>
        <p:spPr>
          <a:xfrm>
            <a:off x="771525" y="138871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6A2B"/>
          </a:solidFill>
          <a:ln/>
        </p:spPr>
      </p:sp>
      <p:sp>
        <p:nvSpPr>
          <p:cNvPr id="7" name="글상자 8-6"/>
          <p:cNvSpPr txBox="1"/>
          <p:nvPr/>
        </p:nvSpPr>
        <p:spPr>
          <a:xfrm>
            <a:off x="657225" y="1388715"/>
            <a:ext cx="552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275" dirty="0"/>
          </a:p>
        </p:txBody>
      </p:sp>
      <p:sp>
        <p:nvSpPr>
          <p:cNvPr id="8" name="글상자 8-7"/>
          <p:cNvSpPr txBox="1"/>
          <p:nvPr/>
        </p:nvSpPr>
        <p:spPr>
          <a:xfrm>
            <a:off x="1228725" y="1388715"/>
            <a:ext cx="4277334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 고르기</a:t>
            </a: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1F3A68"/>
                </a:solidFill>
                <a:highlight>
                  <a:srgbClr val="E9EFFA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처음 1번 </a:t>
            </a:r>
            <a:endParaRPr lang="ko-KR" sz="1500" dirty="0"/>
          </a:p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1순위 큰 분야 → ② 깊은 분야 → ③ 2순위 큰 분야</a:t>
            </a:r>
            <a:endParaRPr lang="ko-KR" sz="1500" dirty="0"/>
          </a:p>
        </p:txBody>
      </p:sp>
      <p:sp>
        <p:nvSpPr>
          <p:cNvPr id="9" name="도형 8-8"/>
          <p:cNvSpPr/>
          <p:nvPr/>
        </p:nvSpPr>
        <p:spPr>
          <a:xfrm>
            <a:off x="609600" y="2123033"/>
            <a:ext cx="5410200" cy="753368"/>
          </a:xfrm>
          <a:prstGeom prst="roundRect">
            <a:avLst>
              <a:gd name="adj" fmla="val 151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0" name="도형 8-9"/>
          <p:cNvSpPr/>
          <p:nvPr/>
        </p:nvSpPr>
        <p:spPr>
          <a:xfrm>
            <a:off x="771525" y="2237333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6A2B"/>
          </a:solidFill>
          <a:ln/>
        </p:spPr>
      </p:sp>
      <p:sp>
        <p:nvSpPr>
          <p:cNvPr id="11" name="글상자 8-10"/>
          <p:cNvSpPr txBox="1"/>
          <p:nvPr/>
        </p:nvSpPr>
        <p:spPr>
          <a:xfrm>
            <a:off x="657225" y="2237333"/>
            <a:ext cx="552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275" dirty="0"/>
          </a:p>
        </p:txBody>
      </p:sp>
      <p:sp>
        <p:nvSpPr>
          <p:cNvPr id="12" name="글상자 8-11"/>
          <p:cNvSpPr txBox="1"/>
          <p:nvPr/>
        </p:nvSpPr>
        <p:spPr>
          <a:xfrm>
            <a:off x="1228725" y="2237333"/>
            <a:ext cx="4037890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뉴스를 모으고 정리</a:t>
            </a: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1F3A68"/>
                </a:solidFill>
                <a:highlight>
                  <a:srgbClr val="E9EFFA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 자동 </a:t>
            </a:r>
            <a:endParaRPr lang="ko-KR" sz="1500" dirty="0"/>
          </a:p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사건끼리 묶어 종합 기사 + 어그로 한 줄 생성</a:t>
            </a:r>
            <a:endParaRPr lang="ko-KR" sz="1500" dirty="0"/>
          </a:p>
        </p:txBody>
      </p:sp>
      <p:sp>
        <p:nvSpPr>
          <p:cNvPr id="13" name="도형 8-12"/>
          <p:cNvSpPr/>
          <p:nvPr/>
        </p:nvSpPr>
        <p:spPr>
          <a:xfrm>
            <a:off x="609600" y="2971651"/>
            <a:ext cx="5410200" cy="753368"/>
          </a:xfrm>
          <a:prstGeom prst="roundRect">
            <a:avLst>
              <a:gd name="adj" fmla="val 151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도형 8-13"/>
          <p:cNvSpPr/>
          <p:nvPr/>
        </p:nvSpPr>
        <p:spPr>
          <a:xfrm>
            <a:off x="771525" y="3085951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6A2B"/>
          </a:solidFill>
          <a:ln/>
        </p:spPr>
      </p:sp>
      <p:sp>
        <p:nvSpPr>
          <p:cNvPr id="15" name="글상자 8-14"/>
          <p:cNvSpPr txBox="1"/>
          <p:nvPr/>
        </p:nvSpPr>
        <p:spPr>
          <a:xfrm>
            <a:off x="657225" y="3085951"/>
            <a:ext cx="552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275" dirty="0"/>
          </a:p>
        </p:txBody>
      </p:sp>
      <p:sp>
        <p:nvSpPr>
          <p:cNvPr id="16" name="글상자 8-15"/>
          <p:cNvSpPr txBox="1"/>
          <p:nvPr/>
        </p:nvSpPr>
        <p:spPr>
          <a:xfrm>
            <a:off x="1228725" y="3085951"/>
            <a:ext cx="2959321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도착</a:t>
            </a: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1F3A68"/>
                </a:solidFill>
                <a:highlight>
                  <a:srgbClr val="E9EFFA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7·12·19시 </a:t>
            </a:r>
            <a:endParaRPr lang="ko-KR" sz="1500" dirty="0"/>
          </a:p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찾아가지 않아도 한 문장이 먼저 보임</a:t>
            </a:r>
            <a:endParaRPr lang="ko-KR" sz="1500" dirty="0"/>
          </a:p>
        </p:txBody>
      </p:sp>
      <p:sp>
        <p:nvSpPr>
          <p:cNvPr id="17" name="도형 8-16"/>
          <p:cNvSpPr/>
          <p:nvPr/>
        </p:nvSpPr>
        <p:spPr>
          <a:xfrm>
            <a:off x="609600" y="3820269"/>
            <a:ext cx="5410200" cy="753368"/>
          </a:xfrm>
          <a:prstGeom prst="roundRect">
            <a:avLst>
              <a:gd name="adj" fmla="val 151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8" name="도형 8-17"/>
          <p:cNvSpPr/>
          <p:nvPr/>
        </p:nvSpPr>
        <p:spPr>
          <a:xfrm>
            <a:off x="771525" y="3934569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6A2B"/>
          </a:solidFill>
          <a:ln/>
        </p:spPr>
      </p:sp>
      <p:sp>
        <p:nvSpPr>
          <p:cNvPr id="19" name="글상자 8-18"/>
          <p:cNvSpPr txBox="1"/>
          <p:nvPr/>
        </p:nvSpPr>
        <p:spPr>
          <a:xfrm>
            <a:off x="657225" y="3934569"/>
            <a:ext cx="552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275" dirty="0"/>
          </a:p>
        </p:txBody>
      </p:sp>
      <p:sp>
        <p:nvSpPr>
          <p:cNvPr id="20" name="글상자 8-19"/>
          <p:cNvSpPr txBox="1"/>
          <p:nvPr/>
        </p:nvSpPr>
        <p:spPr>
          <a:xfrm>
            <a:off x="1228725" y="3934569"/>
            <a:ext cx="2128779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눌러서 종합 기사 읽기</a:t>
            </a:r>
            <a:endParaRPr lang="ko-KR" sz="1500" dirty="0"/>
          </a:p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단어는 탭하면 해설</a:t>
            </a:r>
            <a:endParaRPr lang="ko-KR" sz="1500" dirty="0"/>
          </a:p>
        </p:txBody>
      </p:sp>
      <p:sp>
        <p:nvSpPr>
          <p:cNvPr id="21" name="도형 8-20"/>
          <p:cNvSpPr/>
          <p:nvPr/>
        </p:nvSpPr>
        <p:spPr>
          <a:xfrm>
            <a:off x="609600" y="4668887"/>
            <a:ext cx="5410200" cy="753368"/>
          </a:xfrm>
          <a:prstGeom prst="roundRect">
            <a:avLst>
              <a:gd name="adj" fmla="val 151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도형 8-21"/>
          <p:cNvSpPr/>
          <p:nvPr/>
        </p:nvSpPr>
        <p:spPr>
          <a:xfrm>
            <a:off x="771525" y="47831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6A2B"/>
          </a:solidFill>
          <a:ln/>
        </p:spPr>
      </p:sp>
      <p:sp>
        <p:nvSpPr>
          <p:cNvPr id="23" name="글상자 8-22"/>
          <p:cNvSpPr txBox="1"/>
          <p:nvPr/>
        </p:nvSpPr>
        <p:spPr>
          <a:xfrm>
            <a:off x="657225" y="4783187"/>
            <a:ext cx="552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275" dirty="0"/>
          </a:p>
        </p:txBody>
      </p:sp>
      <p:sp>
        <p:nvSpPr>
          <p:cNvPr id="24" name="글상자 8-23"/>
          <p:cNvSpPr txBox="1"/>
          <p:nvPr/>
        </p:nvSpPr>
        <p:spPr>
          <a:xfrm>
            <a:off x="1228725" y="4783187"/>
            <a:ext cx="2782727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ko-KR" alt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확인</a:t>
            </a:r>
            <a:endParaRPr lang="ko-KR" sz="1500" dirty="0"/>
          </a:p>
          <a:p>
            <a:pPr marL="0" indent="0" algn="l">
              <a:lnSpc>
                <a:spcPts val="1958"/>
              </a:lnSpc>
              <a:buNone/>
            </a:pPr>
            <a:r>
              <a:rPr lang="ko-KR" alt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문단마다 근거가 된 원문 기사 링크</a:t>
            </a:r>
            <a:endParaRPr lang="ko-KR" sz="1500" dirty="0"/>
          </a:p>
        </p:txBody>
      </p:sp>
      <p:sp>
        <p:nvSpPr>
          <p:cNvPr id="25" name="도형 8-24"/>
          <p:cNvSpPr/>
          <p:nvPr/>
        </p:nvSpPr>
        <p:spPr>
          <a:xfrm>
            <a:off x="6229350" y="1274415"/>
            <a:ext cx="2571750" cy="4762500"/>
          </a:xfrm>
          <a:prstGeom prst="roundRect">
            <a:avLst>
              <a:gd name="adj" fmla="val 12593"/>
            </a:avLst>
          </a:prstGeom>
          <a:solidFill>
            <a:srgbClr val="111827"/>
          </a:solidFill>
          <a:ln/>
          <a:effectLst>
            <a:outerShdw blurRad="152400" dist="50800" dir="5400000" algn="bl" rotWithShape="0">
              <a:srgbClr val="14203C">
                <a:alpha val="25000"/>
              </a:srgbClr>
            </a:outerShdw>
          </a:effectLst>
        </p:spPr>
      </p:sp>
      <p:sp>
        <p:nvSpPr>
          <p:cNvPr id="26" name="도형 8-25"/>
          <p:cNvSpPr/>
          <p:nvPr/>
        </p:nvSpPr>
        <p:spPr>
          <a:xfrm>
            <a:off x="6334125" y="1379190"/>
            <a:ext cx="2362200" cy="4552950"/>
          </a:xfrm>
          <a:prstGeom prst="roundRect">
            <a:avLst>
              <a:gd name="adj" fmla="val 9677"/>
            </a:avLst>
          </a:prstGeom>
          <a:solidFill>
            <a:srgbClr val="2C4471"/>
          </a:solidFill>
          <a:ln/>
        </p:spPr>
      </p:sp>
      <p:sp>
        <p:nvSpPr>
          <p:cNvPr id="27" name="글상자 8-26"/>
          <p:cNvSpPr txBox="1"/>
          <p:nvPr/>
        </p:nvSpPr>
        <p:spPr>
          <a:xfrm>
            <a:off x="6324600" y="1664940"/>
            <a:ext cx="23812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ko-KR" altLang="en-US" sz="4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7:00</a:t>
            </a:r>
            <a:endParaRPr lang="ko-KR" sz="4200" dirty="0"/>
          </a:p>
        </p:txBody>
      </p:sp>
      <p:sp>
        <p:nvSpPr>
          <p:cNvPr id="28" name="글상자 8-27"/>
          <p:cNvSpPr txBox="1"/>
          <p:nvPr/>
        </p:nvSpPr>
        <p:spPr>
          <a:xfrm>
            <a:off x="6324600" y="2255490"/>
            <a:ext cx="2381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ko-KR" altLang="en-US" sz="11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27일 화요일</a:t>
            </a:r>
            <a:endParaRPr lang="ko-KR" sz="1125" dirty="0"/>
          </a:p>
        </p:txBody>
      </p:sp>
      <p:sp>
        <p:nvSpPr>
          <p:cNvPr id="29" name="도형 8-28"/>
          <p:cNvSpPr/>
          <p:nvPr/>
        </p:nvSpPr>
        <p:spPr>
          <a:xfrm>
            <a:off x="6438900" y="2617440"/>
            <a:ext cx="2152650" cy="830163"/>
          </a:xfrm>
          <a:prstGeom prst="roundRect">
            <a:avLst>
              <a:gd name="adj" fmla="val 16063"/>
            </a:avLst>
          </a:prstGeom>
          <a:solidFill>
            <a:srgbClr val="FFFFFF">
              <a:alpha val="96000"/>
            </a:srgbClr>
          </a:solidFill>
          <a:ln/>
        </p:spPr>
      </p:sp>
      <p:sp>
        <p:nvSpPr>
          <p:cNvPr id="30" name="글상자 8-29"/>
          <p:cNvSpPr txBox="1"/>
          <p:nvPr/>
        </p:nvSpPr>
        <p:spPr>
          <a:xfrm>
            <a:off x="6553200" y="2722215"/>
            <a:ext cx="15851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ko-KR" altLang="en-US" sz="938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뉴스 봐 · </a:t>
            </a:r>
            <a:r>
              <a:rPr lang="ko-KR" altLang="en-US" sz="938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화제</a:t>
            </a:r>
            <a:endParaRPr lang="ko-KR" sz="938" dirty="0"/>
          </a:p>
        </p:txBody>
      </p:sp>
      <p:sp>
        <p:nvSpPr>
          <p:cNvPr id="31" name="글상자 8-30"/>
          <p:cNvSpPr txBox="1"/>
          <p:nvPr/>
        </p:nvSpPr>
        <p:spPr>
          <a:xfrm>
            <a:off x="8239125" y="2722215"/>
            <a:ext cx="4667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ko-KR" altLang="en-US" sz="938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sz="938" dirty="0"/>
          </a:p>
        </p:txBody>
      </p:sp>
      <p:sp>
        <p:nvSpPr>
          <p:cNvPr id="32" name="글상자 8-31"/>
          <p:cNvSpPr txBox="1"/>
          <p:nvPr/>
        </p:nvSpPr>
        <p:spPr>
          <a:xfrm>
            <a:off x="6553200" y="2922240"/>
            <a:ext cx="1981771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6"/>
              </a:lnSpc>
              <a:buNone/>
            </a:pPr>
            <a:r>
              <a:rPr lang="ko-KR" altLang="en-US" sz="12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세계 뉴스 요약: 다 망했는데 펭귄만 살아남음</a:t>
            </a:r>
            <a:endParaRPr lang="ko-KR" sz="1200" dirty="0"/>
          </a:p>
        </p:txBody>
      </p:sp>
      <p:sp>
        <p:nvSpPr>
          <p:cNvPr id="33" name="도형 8-32"/>
          <p:cNvSpPr/>
          <p:nvPr/>
        </p:nvSpPr>
        <p:spPr>
          <a:xfrm>
            <a:off x="6438900" y="3523804"/>
            <a:ext cx="2152650" cy="1040457"/>
          </a:xfrm>
          <a:prstGeom prst="roundRect">
            <a:avLst>
              <a:gd name="adj" fmla="val 12816"/>
            </a:avLst>
          </a:prstGeom>
          <a:solidFill>
            <a:srgbClr val="FFFFFF">
              <a:alpha val="72000"/>
            </a:srgbClr>
          </a:solidFill>
          <a:ln/>
        </p:spPr>
      </p:sp>
      <p:sp>
        <p:nvSpPr>
          <p:cNvPr id="34" name="글상자 8-33"/>
          <p:cNvSpPr txBox="1"/>
          <p:nvPr/>
        </p:nvSpPr>
        <p:spPr>
          <a:xfrm>
            <a:off x="6553200" y="3628579"/>
            <a:ext cx="15851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ko-KR" altLang="en-US" sz="938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뉴스 봐 · </a:t>
            </a:r>
            <a:r>
              <a:rPr lang="ko-KR" altLang="en-US" sz="938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화제</a:t>
            </a:r>
            <a:endParaRPr lang="ko-KR" sz="938" dirty="0"/>
          </a:p>
        </p:txBody>
      </p:sp>
      <p:sp>
        <p:nvSpPr>
          <p:cNvPr id="35" name="글상자 8-34"/>
          <p:cNvSpPr txBox="1"/>
          <p:nvPr/>
        </p:nvSpPr>
        <p:spPr>
          <a:xfrm>
            <a:off x="8239125" y="3628579"/>
            <a:ext cx="4667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ko-KR" altLang="en-US" sz="938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endParaRPr lang="ko-KR" sz="938" dirty="0"/>
          </a:p>
        </p:txBody>
      </p:sp>
      <p:sp>
        <p:nvSpPr>
          <p:cNvPr id="36" name="글상자 8-35"/>
          <p:cNvSpPr txBox="1"/>
          <p:nvPr/>
        </p:nvSpPr>
        <p:spPr>
          <a:xfrm>
            <a:off x="6553200" y="3828604"/>
            <a:ext cx="1981771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6"/>
              </a:lnSpc>
              <a:buNone/>
            </a:pPr>
            <a:r>
              <a:rPr lang="ko-KR" altLang="en-US" sz="12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추경이 뭔지 몰라도 괜찮아. 근데 내일 물가는 이거 때문에 바뀜</a:t>
            </a:r>
            <a:endParaRPr lang="ko-KR" sz="1200" dirty="0"/>
          </a:p>
        </p:txBody>
      </p:sp>
      <p:sp>
        <p:nvSpPr>
          <p:cNvPr id="37" name="도형 8-36"/>
          <p:cNvSpPr/>
          <p:nvPr/>
        </p:nvSpPr>
        <p:spPr>
          <a:xfrm>
            <a:off x="9010650" y="1274415"/>
            <a:ext cx="2571750" cy="4762500"/>
          </a:xfrm>
          <a:prstGeom prst="roundRect">
            <a:avLst>
              <a:gd name="adj" fmla="val 12593"/>
            </a:avLst>
          </a:prstGeom>
          <a:solidFill>
            <a:srgbClr val="111827"/>
          </a:solidFill>
          <a:ln/>
          <a:effectLst>
            <a:outerShdw blurRad="152400" dist="50800" dir="5400000" algn="bl" rotWithShape="0">
              <a:srgbClr val="14203C">
                <a:alpha val="25000"/>
              </a:srgbClr>
            </a:outerShdw>
          </a:effectLst>
        </p:spPr>
      </p:sp>
      <p:sp>
        <p:nvSpPr>
          <p:cNvPr id="38" name="도형 8-37"/>
          <p:cNvSpPr/>
          <p:nvPr/>
        </p:nvSpPr>
        <p:spPr>
          <a:xfrm>
            <a:off x="9115425" y="1379190"/>
            <a:ext cx="2362200" cy="4552950"/>
          </a:xfrm>
          <a:prstGeom prst="roundRect">
            <a:avLst>
              <a:gd name="adj" fmla="val 9677"/>
            </a:avLst>
          </a:prstGeom>
          <a:solidFill>
            <a:srgbClr val="F4F6FA"/>
          </a:solidFill>
          <a:ln/>
        </p:spPr>
      </p:sp>
      <p:sp>
        <p:nvSpPr>
          <p:cNvPr id="39" name="글상자 8-38"/>
          <p:cNvSpPr txBox="1"/>
          <p:nvPr/>
        </p:nvSpPr>
        <p:spPr>
          <a:xfrm>
            <a:off x="9239250" y="1512540"/>
            <a:ext cx="23431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ko-KR" altLang="en-US" sz="9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화제 · 기사 5개 종합</a:t>
            </a:r>
            <a:endParaRPr lang="ko-KR" sz="975" dirty="0"/>
          </a:p>
        </p:txBody>
      </p:sp>
      <p:sp>
        <p:nvSpPr>
          <p:cNvPr id="40" name="글상자 8-39"/>
          <p:cNvSpPr txBox="1"/>
          <p:nvPr/>
        </p:nvSpPr>
        <p:spPr>
          <a:xfrm>
            <a:off x="9239250" y="1712565"/>
            <a:ext cx="217798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ko-KR" alt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사태, 처음부터 끝까지 한 번에 정리</a:t>
            </a:r>
            <a:endParaRPr lang="ko-KR" sz="1350" dirty="0"/>
          </a:p>
        </p:txBody>
      </p:sp>
      <p:sp>
        <p:nvSpPr>
          <p:cNvPr id="41" name="도형 8-40"/>
          <p:cNvSpPr/>
          <p:nvPr/>
        </p:nvSpPr>
        <p:spPr>
          <a:xfrm>
            <a:off x="9239250" y="2234357"/>
            <a:ext cx="2114550" cy="594271"/>
          </a:xfrm>
          <a:prstGeom prst="roundRect">
            <a:avLst>
              <a:gd name="adj" fmla="val 12822"/>
            </a:avLst>
          </a:prstGeom>
          <a:solidFill>
            <a:srgbClr val="FFF6E5"/>
          </a:solidFill>
          <a:ln/>
        </p:spPr>
      </p:sp>
      <p:sp>
        <p:nvSpPr>
          <p:cNvPr id="42" name="글상자 8-41"/>
          <p:cNvSpPr txBox="1"/>
          <p:nvPr/>
        </p:nvSpPr>
        <p:spPr>
          <a:xfrm>
            <a:off x="9315450" y="2291507"/>
            <a:ext cx="202101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ko-KR" altLang="en-US" sz="900" dirty="0">
                <a:solidFill>
                  <a:srgbClr val="7A4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"오늘의 한 문장"은 흥미를 위해 과장될 수 있어요. 정확한 내용은 본문에서 확인해 주세요.</a:t>
            </a:r>
            <a:endParaRPr lang="ko-KR" sz="900" dirty="0"/>
          </a:p>
        </p:txBody>
      </p:sp>
      <p:sp>
        <p:nvSpPr>
          <p:cNvPr id="43" name="글상자 8-42"/>
          <p:cNvSpPr txBox="1"/>
          <p:nvPr/>
        </p:nvSpPr>
        <p:spPr>
          <a:xfrm>
            <a:off x="9239250" y="2904827"/>
            <a:ext cx="2177987" cy="65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6"/>
              </a:lnSpc>
              <a:buNone/>
            </a:pPr>
            <a:r>
              <a:rPr lang="ko-KR" altLang="en-US" sz="1088" dirty="0">
                <a:solidFill>
                  <a:srgbClr val="1F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어제 </a:t>
            </a:r>
            <a:r>
              <a:rPr lang="ko-KR" altLang="en-US" sz="1088" b="1" u="dotted" dirty="0">
                <a:solidFill>
                  <a:srgbClr val="1F2838"/>
                </a:solidFill>
                <a:uFill>
                  <a:solidFill>
                    <a:srgbClr val="1F2838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추가경정예산</a:t>
            </a:r>
            <a:r>
              <a:rPr lang="ko-KR" altLang="en-US" sz="1088" dirty="0">
                <a:solidFill>
                  <a:srgbClr val="1F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국회에 제출했다.</a:t>
            </a:r>
            <a:r>
              <a:rPr lang="ko-KR" altLang="en-US" sz="825" b="1" baseline="30000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[1][3]</a:t>
            </a:r>
            <a:r>
              <a:rPr lang="ko-KR" altLang="en-US" sz="1088" dirty="0">
                <a:solidFill>
                  <a:srgbClr val="1F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규모는 지난해보다 커졌고…</a:t>
            </a:r>
            <a:endParaRPr lang="ko-KR" sz="1088" dirty="0"/>
          </a:p>
        </p:txBody>
      </p:sp>
      <p:sp>
        <p:nvSpPr>
          <p:cNvPr id="44" name="도형 8-43"/>
          <p:cNvSpPr/>
          <p:nvPr/>
        </p:nvSpPr>
        <p:spPr>
          <a:xfrm>
            <a:off x="9239250" y="3621435"/>
            <a:ext cx="2114550" cy="770483"/>
          </a:xfrm>
          <a:prstGeom prst="roundRect">
            <a:avLst>
              <a:gd name="adj" fmla="val 12362"/>
            </a:avLst>
          </a:prstGeom>
          <a:solidFill>
            <a:srgbClr val="1A2233"/>
          </a:solidFill>
          <a:ln/>
          <a:effectLst>
            <a:outerShdw blurRad="152400" dist="50800" dir="5400000" algn="bl" rotWithShape="0">
              <a:srgbClr val="14203C">
                <a:alpha val="25000"/>
              </a:srgbClr>
            </a:outerShdw>
          </a:effectLst>
        </p:spPr>
      </p:sp>
      <p:sp>
        <p:nvSpPr>
          <p:cNvPr id="45" name="글상자 8-44"/>
          <p:cNvSpPr txBox="1"/>
          <p:nvPr/>
        </p:nvSpPr>
        <p:spPr>
          <a:xfrm>
            <a:off x="9353550" y="3716685"/>
            <a:ext cx="194252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추가경정예산</a:t>
            </a:r>
            <a:r>
              <a:rPr lang="ko-KR" alt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해 예산이 이미 정해진 뒤, 부족한 돈을 채우려고 새로 짜는 예산</a:t>
            </a:r>
            <a:endParaRPr lang="ko-KR" sz="1050" dirty="0"/>
          </a:p>
        </p:txBody>
      </p:sp>
      <p:sp>
        <p:nvSpPr>
          <p:cNvPr id="46" name="글상자 8-45"/>
          <p:cNvSpPr txBox="1"/>
          <p:nvPr/>
        </p:nvSpPr>
        <p:spPr>
          <a:xfrm>
            <a:off x="9239250" y="4468118"/>
            <a:ext cx="2177987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6"/>
              </a:lnSpc>
              <a:buNone/>
            </a:pPr>
            <a:r>
              <a:rPr lang="ko-KR" altLang="en-US" sz="1088" dirty="0">
                <a:solidFill>
                  <a:srgbClr val="1F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전문가들은 물가에 미칠 영향을 두고 의견이 갈린다.</a:t>
            </a:r>
            <a:r>
              <a:rPr lang="ko-KR" altLang="en-US" sz="825" b="1" baseline="30000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[2][5]</a:t>
            </a:r>
            <a:endParaRPr lang="ko-KR" sz="1088" dirty="0"/>
          </a:p>
        </p:txBody>
      </p:sp>
      <p:sp>
        <p:nvSpPr>
          <p:cNvPr id="47" name="도형 8-46"/>
          <p:cNvSpPr/>
          <p:nvPr/>
        </p:nvSpPr>
        <p:spPr>
          <a:xfrm>
            <a:off x="9229725" y="5098703"/>
            <a:ext cx="2133600" cy="728663"/>
          </a:xfrm>
          <a:prstGeom prst="roundRect">
            <a:avLst>
              <a:gd name="adj" fmla="val 13072"/>
            </a:avLst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8" name="글상자 8-47"/>
          <p:cNvSpPr txBox="1"/>
          <p:nvPr/>
        </p:nvSpPr>
        <p:spPr>
          <a:xfrm>
            <a:off x="9334500" y="5184428"/>
            <a:ext cx="198177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9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기사 5개</a:t>
            </a:r>
            <a:endParaRPr lang="ko-KR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ko-KR" altLang="en-US" sz="9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○○일보 · [2] △△뉴스 · [3] □□신문 …</a:t>
            </a:r>
            <a:endParaRPr lang="ko-KR" sz="975" dirty="0"/>
          </a:p>
        </p:txBody>
      </p:sp>
      <p:sp>
        <p:nvSpPr>
          <p:cNvPr id="49" name="글상자 8-48"/>
          <p:cNvSpPr txBox="1"/>
          <p:nvPr/>
        </p:nvSpPr>
        <p:spPr>
          <a:xfrm>
            <a:off x="609600" y="6512272"/>
            <a:ext cx="10382250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설명용 예시이며, 기사 내용은 가상입니다.</a:t>
            </a:r>
            <a:endParaRPr lang="ko-KR" sz="1050" dirty="0"/>
          </a:p>
        </p:txBody>
      </p:sp>
      <p:sp>
        <p:nvSpPr>
          <p:cNvPr id="50" name="글상자 8-49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ko-KR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9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9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 — 첫 버전(MVP) 범위</a:t>
            </a:r>
            <a:endParaRPr lang="ko-KR" sz="1275" dirty="0"/>
          </a:p>
        </p:txBody>
      </p:sp>
      <p:sp>
        <p:nvSpPr>
          <p:cNvPr id="4" name="글상자 9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4개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— 작게 만들어 끝까지 동작시킨다</a:t>
            </a:r>
            <a:endParaRPr lang="ko-KR" sz="2700" dirty="0"/>
          </a:p>
        </p:txBody>
      </p:sp>
      <p:sp>
        <p:nvSpPr>
          <p:cNvPr id="5" name="글상자 9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MVP(최소 기능 제품): 가설을 확인할 수 있는 가장 작은 첫 버전</a:t>
            </a:r>
            <a:endParaRPr lang="ko-KR" sz="1575" dirty="0"/>
          </a:p>
        </p:txBody>
      </p:sp>
      <p:sp>
        <p:nvSpPr>
          <p:cNvPr id="6" name="도형 9-5"/>
          <p:cNvSpPr/>
          <p:nvPr/>
        </p:nvSpPr>
        <p:spPr>
          <a:xfrm>
            <a:off x="609600" y="1726853"/>
            <a:ext cx="2628900" cy="3352800"/>
          </a:xfrm>
          <a:prstGeom prst="roundRect">
            <a:avLst>
              <a:gd name="adj" fmla="val 50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도형 9-6"/>
          <p:cNvSpPr/>
          <p:nvPr/>
        </p:nvSpPr>
        <p:spPr>
          <a:xfrm>
            <a:off x="828675" y="1964978"/>
            <a:ext cx="602605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8" name="글상자 9-7"/>
          <p:cNvSpPr txBox="1"/>
          <p:nvPr/>
        </p:nvSpPr>
        <p:spPr>
          <a:xfrm>
            <a:off x="933450" y="1993553"/>
            <a:ext cx="6216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</a:t>
            </a:r>
            <a:endParaRPr lang="ko-KR" sz="1125" dirty="0"/>
          </a:p>
        </p:txBody>
      </p:sp>
      <p:sp>
        <p:nvSpPr>
          <p:cNvPr id="9" name="글상자 9-8"/>
          <p:cNvSpPr txBox="1"/>
          <p:nvPr/>
        </p:nvSpPr>
        <p:spPr>
          <a:xfrm>
            <a:off x="828675" y="2365028"/>
            <a:ext cx="2419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ko-KR" sz="3300" dirty="0"/>
          </a:p>
        </p:txBody>
      </p:sp>
      <p:sp>
        <p:nvSpPr>
          <p:cNvPr id="10" name="글상자 9-9"/>
          <p:cNvSpPr txBox="1"/>
          <p:nvPr/>
        </p:nvSpPr>
        <p:spPr>
          <a:xfrm>
            <a:off x="828675" y="2917478"/>
            <a:ext cx="241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기사 모으기</a:t>
            </a:r>
            <a:endParaRPr lang="ko-KR" sz="1725" dirty="0"/>
          </a:p>
        </p:txBody>
      </p:sp>
      <p:sp>
        <p:nvSpPr>
          <p:cNvPr id="11" name="글상자 9-10"/>
          <p:cNvSpPr txBox="1"/>
          <p:nvPr/>
        </p:nvSpPr>
        <p:spPr>
          <a:xfrm>
            <a:off x="828675" y="3288953"/>
            <a:ext cx="2256473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9"/>
              </a:lnSpc>
              <a:buNone/>
            </a:pPr>
            <a:r>
              <a:rPr lang="ko-KR" altLang="en-US" sz="1425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화제 / 나의 관심 분야 / 추천 뉴스 3개 페이지. 큰 분야 10개 중 단계별 선택</a:t>
            </a:r>
            <a:endParaRPr lang="ko-KR" sz="1425" dirty="0"/>
          </a:p>
        </p:txBody>
      </p:sp>
      <p:sp>
        <p:nvSpPr>
          <p:cNvPr id="12" name="도형 9-11"/>
          <p:cNvSpPr/>
          <p:nvPr/>
        </p:nvSpPr>
        <p:spPr>
          <a:xfrm>
            <a:off x="828675" y="4562921"/>
            <a:ext cx="1375321" cy="27860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13" name="글상자 9-12"/>
          <p:cNvSpPr txBox="1"/>
          <p:nvPr/>
        </p:nvSpPr>
        <p:spPr>
          <a:xfrm>
            <a:off x="933450" y="4591496"/>
            <a:ext cx="13943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P1 재미없음</a:t>
            </a:r>
            <a:endParaRPr lang="ko-KR" sz="1125" dirty="0"/>
          </a:p>
        </p:txBody>
      </p:sp>
      <p:sp>
        <p:nvSpPr>
          <p:cNvPr id="14" name="도형 9-13"/>
          <p:cNvSpPr/>
          <p:nvPr/>
        </p:nvSpPr>
        <p:spPr>
          <a:xfrm>
            <a:off x="3390900" y="1726853"/>
            <a:ext cx="2628900" cy="3352800"/>
          </a:xfrm>
          <a:prstGeom prst="roundRect">
            <a:avLst>
              <a:gd name="adj" fmla="val 50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5" name="도형 9-14"/>
          <p:cNvSpPr/>
          <p:nvPr/>
        </p:nvSpPr>
        <p:spPr>
          <a:xfrm>
            <a:off x="3609975" y="1964978"/>
            <a:ext cx="602605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16" name="글상자 9-15"/>
          <p:cNvSpPr txBox="1"/>
          <p:nvPr/>
        </p:nvSpPr>
        <p:spPr>
          <a:xfrm>
            <a:off x="3714750" y="1993553"/>
            <a:ext cx="6216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</a:t>
            </a:r>
            <a:endParaRPr lang="ko-KR" sz="1125" dirty="0"/>
          </a:p>
        </p:txBody>
      </p:sp>
      <p:sp>
        <p:nvSpPr>
          <p:cNvPr id="17" name="글상자 9-16"/>
          <p:cNvSpPr txBox="1"/>
          <p:nvPr/>
        </p:nvSpPr>
        <p:spPr>
          <a:xfrm>
            <a:off x="3609975" y="2365028"/>
            <a:ext cx="2419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ko-KR" sz="3300" dirty="0"/>
          </a:p>
        </p:txBody>
      </p:sp>
      <p:sp>
        <p:nvSpPr>
          <p:cNvPr id="18" name="글상자 9-17"/>
          <p:cNvSpPr txBox="1"/>
          <p:nvPr/>
        </p:nvSpPr>
        <p:spPr>
          <a:xfrm>
            <a:off x="3609975" y="2917478"/>
            <a:ext cx="241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기사</a:t>
            </a:r>
            <a:endParaRPr lang="ko-KR" sz="1725" dirty="0"/>
          </a:p>
        </p:txBody>
      </p:sp>
      <p:sp>
        <p:nvSpPr>
          <p:cNvPr id="19" name="글상자 9-18"/>
          <p:cNvSpPr txBox="1"/>
          <p:nvPr/>
        </p:nvSpPr>
        <p:spPr>
          <a:xfrm>
            <a:off x="3609975" y="3288953"/>
            <a:ext cx="2256473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9"/>
              </a:lnSpc>
              <a:buNone/>
            </a:pPr>
            <a:r>
              <a:rPr lang="ko-KR" altLang="en-US" sz="1425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기사를 AI가 새로 정리. 출처 링크 + 어려운 단어 탭 해설</a:t>
            </a:r>
            <a:endParaRPr lang="ko-KR" sz="1425" dirty="0"/>
          </a:p>
        </p:txBody>
      </p:sp>
      <p:sp>
        <p:nvSpPr>
          <p:cNvPr id="20" name="도형 9-19"/>
          <p:cNvSpPr/>
          <p:nvPr/>
        </p:nvSpPr>
        <p:spPr>
          <a:xfrm>
            <a:off x="3609975" y="4562921"/>
            <a:ext cx="2019895" cy="27860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21" name="글상자 9-20"/>
          <p:cNvSpPr txBox="1"/>
          <p:nvPr/>
        </p:nvSpPr>
        <p:spPr>
          <a:xfrm>
            <a:off x="3714750" y="4591496"/>
            <a:ext cx="2038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P2 흩어짐 · P3 어려움</a:t>
            </a:r>
            <a:endParaRPr lang="ko-KR" sz="1125" dirty="0"/>
          </a:p>
        </p:txBody>
      </p:sp>
      <p:sp>
        <p:nvSpPr>
          <p:cNvPr id="22" name="도형 9-21"/>
          <p:cNvSpPr/>
          <p:nvPr/>
        </p:nvSpPr>
        <p:spPr>
          <a:xfrm>
            <a:off x="6172200" y="1726853"/>
            <a:ext cx="2628900" cy="3352800"/>
          </a:xfrm>
          <a:prstGeom prst="roundRect">
            <a:avLst>
              <a:gd name="adj" fmla="val 50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3" name="도형 9-22"/>
          <p:cNvSpPr/>
          <p:nvPr/>
        </p:nvSpPr>
        <p:spPr>
          <a:xfrm>
            <a:off x="6391275" y="1964978"/>
            <a:ext cx="602605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24" name="글상자 9-23"/>
          <p:cNvSpPr txBox="1"/>
          <p:nvPr/>
        </p:nvSpPr>
        <p:spPr>
          <a:xfrm>
            <a:off x="6496050" y="1993553"/>
            <a:ext cx="6216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FR-03</a:t>
            </a:r>
            <a:endParaRPr lang="ko-KR" sz="1125" dirty="0"/>
          </a:p>
        </p:txBody>
      </p:sp>
      <p:sp>
        <p:nvSpPr>
          <p:cNvPr id="25" name="글상자 9-24"/>
          <p:cNvSpPr txBox="1"/>
          <p:nvPr/>
        </p:nvSpPr>
        <p:spPr>
          <a:xfrm>
            <a:off x="6391275" y="2365028"/>
            <a:ext cx="2419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🎣</a:t>
            </a:r>
            <a:endParaRPr lang="ko-KR" sz="3300" dirty="0"/>
          </a:p>
        </p:txBody>
      </p:sp>
      <p:sp>
        <p:nvSpPr>
          <p:cNvPr id="26" name="글상자 9-25"/>
          <p:cNvSpPr txBox="1"/>
          <p:nvPr/>
        </p:nvSpPr>
        <p:spPr>
          <a:xfrm>
            <a:off x="6391275" y="2917478"/>
            <a:ext cx="241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어그로 한 줄</a:t>
            </a:r>
            <a:endParaRPr lang="ko-KR" sz="1725" dirty="0"/>
          </a:p>
        </p:txBody>
      </p:sp>
      <p:sp>
        <p:nvSpPr>
          <p:cNvPr id="27" name="글상자 9-26"/>
          <p:cNvSpPr txBox="1"/>
          <p:nvPr/>
        </p:nvSpPr>
        <p:spPr>
          <a:xfrm>
            <a:off x="6391275" y="3288953"/>
            <a:ext cx="2256473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9"/>
              </a:lnSpc>
              <a:buNone/>
            </a:pPr>
            <a:r>
              <a:rPr lang="ko-KR" altLang="en-US" sz="1425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규칙(강한 단어·친근한 말투) + 예시 제목 10~20개로 AI가 생성. 안내 문구 표시</a:t>
            </a:r>
            <a:endParaRPr lang="ko-KR" sz="1425" dirty="0"/>
          </a:p>
        </p:txBody>
      </p:sp>
      <p:sp>
        <p:nvSpPr>
          <p:cNvPr id="28" name="도형 9-27"/>
          <p:cNvSpPr/>
          <p:nvPr/>
        </p:nvSpPr>
        <p:spPr>
          <a:xfrm>
            <a:off x="6391275" y="4562921"/>
            <a:ext cx="1375321" cy="27860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29" name="글상자 9-28"/>
          <p:cNvSpPr txBox="1"/>
          <p:nvPr/>
        </p:nvSpPr>
        <p:spPr>
          <a:xfrm>
            <a:off x="6496050" y="4591496"/>
            <a:ext cx="13943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P1 재미없음</a:t>
            </a:r>
            <a:endParaRPr lang="ko-KR" sz="1125" dirty="0"/>
          </a:p>
        </p:txBody>
      </p:sp>
      <p:sp>
        <p:nvSpPr>
          <p:cNvPr id="30" name="도형 9-29"/>
          <p:cNvSpPr/>
          <p:nvPr/>
        </p:nvSpPr>
        <p:spPr>
          <a:xfrm>
            <a:off x="8953500" y="1726853"/>
            <a:ext cx="2628900" cy="3352800"/>
          </a:xfrm>
          <a:prstGeom prst="roundRect">
            <a:avLst>
              <a:gd name="adj" fmla="val 5072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1" name="도형 9-30"/>
          <p:cNvSpPr/>
          <p:nvPr/>
        </p:nvSpPr>
        <p:spPr>
          <a:xfrm>
            <a:off x="9172575" y="1964978"/>
            <a:ext cx="602605" cy="247650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/>
        </p:spPr>
      </p:sp>
      <p:sp>
        <p:nvSpPr>
          <p:cNvPr id="32" name="글상자 9-31"/>
          <p:cNvSpPr txBox="1"/>
          <p:nvPr/>
        </p:nvSpPr>
        <p:spPr>
          <a:xfrm>
            <a:off x="9277350" y="1993553"/>
            <a:ext cx="6216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</a:t>
            </a:r>
            <a:endParaRPr lang="ko-KR" sz="1125" dirty="0"/>
          </a:p>
        </p:txBody>
      </p:sp>
      <p:sp>
        <p:nvSpPr>
          <p:cNvPr id="33" name="글상자 9-32"/>
          <p:cNvSpPr txBox="1"/>
          <p:nvPr/>
        </p:nvSpPr>
        <p:spPr>
          <a:xfrm>
            <a:off x="9172575" y="2365028"/>
            <a:ext cx="2419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ko-KR" altLang="en-US" sz="3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</a:t>
            </a:r>
            <a:endParaRPr lang="ko-KR" sz="3300" dirty="0"/>
          </a:p>
        </p:txBody>
      </p:sp>
      <p:sp>
        <p:nvSpPr>
          <p:cNvPr id="34" name="글상자 9-33"/>
          <p:cNvSpPr txBox="1"/>
          <p:nvPr/>
        </p:nvSpPr>
        <p:spPr>
          <a:xfrm>
            <a:off x="9172575" y="2917478"/>
            <a:ext cx="241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ko-KR" sz="1725" dirty="0"/>
          </a:p>
        </p:txBody>
      </p:sp>
      <p:sp>
        <p:nvSpPr>
          <p:cNvPr id="35" name="글상자 9-34"/>
          <p:cNvSpPr txBox="1"/>
          <p:nvPr/>
        </p:nvSpPr>
        <p:spPr>
          <a:xfrm>
            <a:off x="9172575" y="3288953"/>
            <a:ext cx="2256473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9"/>
              </a:lnSpc>
              <a:buNone/>
            </a:pPr>
            <a:r>
              <a:rPr lang="ko-KR" altLang="en-US" sz="1425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알림, 하루 3번 (7·12·19시). 누르면 해당 종합 기사로 이동</a:t>
            </a:r>
            <a:endParaRPr lang="ko-KR" sz="1425" dirty="0"/>
          </a:p>
        </p:txBody>
      </p:sp>
      <p:sp>
        <p:nvSpPr>
          <p:cNvPr id="36" name="도형 9-35"/>
          <p:cNvSpPr/>
          <p:nvPr/>
        </p:nvSpPr>
        <p:spPr>
          <a:xfrm>
            <a:off x="9172575" y="4562921"/>
            <a:ext cx="1711375" cy="27860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37" name="글상자 9-36"/>
          <p:cNvSpPr txBox="1"/>
          <p:nvPr/>
        </p:nvSpPr>
        <p:spPr>
          <a:xfrm>
            <a:off x="9277350" y="4591496"/>
            <a:ext cx="17304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P4 찾아보지 않음</a:t>
            </a:r>
            <a:endParaRPr lang="ko-KR" sz="1125" dirty="0"/>
          </a:p>
        </p:txBody>
      </p:sp>
      <p:sp>
        <p:nvSpPr>
          <p:cNvPr id="38" name="도형 9-37"/>
          <p:cNvSpPr/>
          <p:nvPr/>
        </p:nvSpPr>
        <p:spPr>
          <a:xfrm>
            <a:off x="609600" y="5787033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39" name="글상자 9-38"/>
          <p:cNvSpPr txBox="1"/>
          <p:nvPr/>
        </p:nvSpPr>
        <p:spPr>
          <a:xfrm>
            <a:off x="838200" y="5929908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기능만으로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→ 클릭 → 종합 기사 → 출처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한 흐름이 완성된다 — 가설을 확인하기에 충분한 최소 범위.</a:t>
            </a:r>
            <a:endParaRPr lang="ko-KR" sz="1575" dirty="0"/>
          </a:p>
        </p:txBody>
      </p:sp>
      <p:sp>
        <p:nvSpPr>
          <p:cNvPr id="40" name="글상자 9-39"/>
          <p:cNvSpPr txBox="1"/>
          <p:nvPr/>
        </p:nvSpPr>
        <p:spPr>
          <a:xfrm>
            <a:off x="11170741" y="6515100"/>
            <a:ext cx="6402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ko-KR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0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10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 — 설계 원칙</a:t>
            </a:r>
            <a:endParaRPr lang="ko-KR" sz="1275" dirty="0"/>
          </a:p>
        </p:txBody>
      </p:sp>
      <p:sp>
        <p:nvSpPr>
          <p:cNvPr id="4" name="글상자 10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"낚시성 기사와 뭐가 다른가요?"</a:t>
            </a:r>
            <a:endParaRPr lang="ko-KR" sz="2700" dirty="0"/>
          </a:p>
        </p:txBody>
      </p:sp>
      <p:sp>
        <p:nvSpPr>
          <p:cNvPr id="5" name="글상자 10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낚시성 제목이 나쁜 이유는 </a:t>
            </a:r>
            <a:r>
              <a:rPr lang="ko-KR" altLang="en-US" sz="157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눌렀을 때 알맹이가 없기 때문</a:t>
            </a: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뉴스 봐는 정반대입니다.</a:t>
            </a:r>
            <a:endParaRPr lang="ko-KR" sz="1575" dirty="0"/>
          </a:p>
        </p:txBody>
      </p:sp>
      <p:sp>
        <p:nvSpPr>
          <p:cNvPr id="6" name="도형 10-5"/>
          <p:cNvSpPr/>
          <p:nvPr/>
        </p:nvSpPr>
        <p:spPr>
          <a:xfrm>
            <a:off x="609600" y="1726853"/>
            <a:ext cx="5410200" cy="1349425"/>
          </a:xfrm>
          <a:prstGeom prst="roundRect">
            <a:avLst>
              <a:gd name="adj" fmla="val 9882"/>
            </a:avLst>
          </a:prstGeom>
          <a:solidFill>
            <a:srgbClr val="FDEAEA"/>
          </a:solidFill>
          <a:ln w="9525">
            <a:solidFill>
              <a:srgbClr val="F4CCCC"/>
            </a:solidFill>
            <a:prstDash val="solid"/>
          </a:ln>
        </p:spPr>
      </p:sp>
      <p:sp>
        <p:nvSpPr>
          <p:cNvPr id="7" name="도형 10-6"/>
          <p:cNvSpPr/>
          <p:nvPr/>
        </p:nvSpPr>
        <p:spPr>
          <a:xfrm>
            <a:off x="828675" y="1907828"/>
            <a:ext cx="974229" cy="24765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8" name="글상자 10-7"/>
          <p:cNvSpPr txBox="1"/>
          <p:nvPr/>
        </p:nvSpPr>
        <p:spPr>
          <a:xfrm>
            <a:off x="933450" y="1936403"/>
            <a:ext cx="9932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낚시성 기사</a:t>
            </a:r>
            <a:endParaRPr lang="ko-KR" sz="1125" dirty="0"/>
          </a:p>
        </p:txBody>
      </p:sp>
      <p:sp>
        <p:nvSpPr>
          <p:cNvPr id="9" name="글상자 10-8"/>
          <p:cNvSpPr txBox="1"/>
          <p:nvPr/>
        </p:nvSpPr>
        <p:spPr>
          <a:xfrm>
            <a:off x="828675" y="2250728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자극적 제목 → </a:t>
            </a:r>
            <a:r>
              <a:rPr lang="ko-KR" altLang="en-US" sz="1725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빈약한 본문</a:t>
            </a:r>
            <a:endParaRPr lang="ko-KR" sz="1725" dirty="0"/>
          </a:p>
        </p:txBody>
      </p:sp>
      <p:sp>
        <p:nvSpPr>
          <p:cNvPr id="10" name="글상자 10-9"/>
          <p:cNvSpPr txBox="1"/>
          <p:nvPr/>
        </p:nvSpPr>
        <p:spPr>
          <a:xfrm>
            <a:off x="828675" y="2622203"/>
            <a:ext cx="5200650" cy="2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약속한 것보다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정보. 기대가 실망으로 끝남</a:t>
            </a:r>
            <a:endParaRPr lang="ko-KR" sz="1388" dirty="0"/>
          </a:p>
        </p:txBody>
      </p:sp>
      <p:sp>
        <p:nvSpPr>
          <p:cNvPr id="11" name="도형 10-10"/>
          <p:cNvSpPr/>
          <p:nvPr/>
        </p:nvSpPr>
        <p:spPr>
          <a:xfrm>
            <a:off x="6172200" y="1726853"/>
            <a:ext cx="5410200" cy="1349425"/>
          </a:xfrm>
          <a:prstGeom prst="roundRect">
            <a:avLst>
              <a:gd name="adj" fmla="val 9882"/>
            </a:avLst>
          </a:prstGeom>
          <a:solidFill>
            <a:srgbClr val="E6F6EF"/>
          </a:solidFill>
          <a:ln w="9525">
            <a:solidFill>
              <a:srgbClr val="C6EADB"/>
            </a:solidFill>
            <a:prstDash val="solid"/>
          </a:ln>
        </p:spPr>
      </p:sp>
      <p:sp>
        <p:nvSpPr>
          <p:cNvPr id="12" name="도형 10-11"/>
          <p:cNvSpPr/>
          <p:nvPr/>
        </p:nvSpPr>
        <p:spPr>
          <a:xfrm>
            <a:off x="6391275" y="1907828"/>
            <a:ext cx="688479" cy="247650"/>
          </a:xfrm>
          <a:prstGeom prst="roundRect">
            <a:avLst>
              <a:gd name="adj" fmla="val 50000"/>
            </a:avLst>
          </a:prstGeom>
          <a:solidFill>
            <a:srgbClr val="E6F6EF"/>
          </a:solidFill>
          <a:ln/>
        </p:spPr>
      </p:sp>
      <p:sp>
        <p:nvSpPr>
          <p:cNvPr id="13" name="글상자 10-12"/>
          <p:cNvSpPr txBox="1"/>
          <p:nvPr/>
        </p:nvSpPr>
        <p:spPr>
          <a:xfrm>
            <a:off x="6496050" y="1936403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봐</a:t>
            </a:r>
            <a:endParaRPr lang="ko-KR" sz="1125" dirty="0"/>
          </a:p>
        </p:txBody>
      </p:sp>
      <p:sp>
        <p:nvSpPr>
          <p:cNvPr id="14" name="글상자 10-13"/>
          <p:cNvSpPr txBox="1"/>
          <p:nvPr/>
        </p:nvSpPr>
        <p:spPr>
          <a:xfrm>
            <a:off x="6391275" y="2250728"/>
            <a:ext cx="52006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흥미로운 한 줄 → </a:t>
            </a:r>
            <a:r>
              <a:rPr lang="ko-KR" altLang="en-US" sz="1725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기사의 종합 정리</a:t>
            </a:r>
            <a:endParaRPr lang="ko-KR" sz="1725" dirty="0"/>
          </a:p>
        </p:txBody>
      </p:sp>
      <p:sp>
        <p:nvSpPr>
          <p:cNvPr id="15" name="글상자 10-14"/>
          <p:cNvSpPr txBox="1"/>
          <p:nvPr/>
        </p:nvSpPr>
        <p:spPr>
          <a:xfrm>
            <a:off x="6391275" y="2622203"/>
            <a:ext cx="5200650" cy="2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약속한 것보다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정보. 결론까지 있는 한 편의 글</a:t>
            </a:r>
            <a:endParaRPr lang="ko-KR" sz="1388" dirty="0"/>
          </a:p>
        </p:txBody>
      </p:sp>
      <p:graphicFrame>
        <p:nvGraphicFramePr>
          <p:cNvPr id="16" name="표 10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3285827"/>
          <a:ext cx="10972800" cy="3054845"/>
        </p:xfrm>
        <a:graphic>
          <a:graphicData uri="http://schemas.openxmlformats.org/drawingml/2006/table">
            <a:tbl>
              <a:tblPr/>
              <a:tblGrid>
                <a:gridCol w="1426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21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01"/>
                        </a:lnSpc>
                        <a:buNone/>
                      </a:pPr>
                      <a:r>
                        <a:rPr lang="ko-KR" altLang="en-US" sz="1725" b="1" dirty="0">
                          <a:solidFill>
                            <a:srgbClr val="3A44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1"/>
                        </a:lnSpc>
                        <a:buNone/>
                      </a:pPr>
                      <a:r>
                        <a:rPr lang="ko-KR" altLang="en-US" sz="1725" b="1" dirty="0">
                          <a:solidFill>
                            <a:srgbClr val="3A44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3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3045"/>
                        </a:lnSpc>
                        <a:buNone/>
                      </a:pPr>
                      <a:r>
                        <a:rPr lang="ko-KR" altLang="en-US" sz="2100" b="1" dirty="0">
                          <a:solidFill>
                            <a:srgbClr val="FF6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1"/>
                        </a:lnSpc>
                        <a:buNone/>
                      </a:pPr>
                      <a:r>
                        <a:rPr lang="ko-KR" altLang="en-US" sz="1725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본체는 정보</a:t>
                      </a:r>
                      <a:r>
                        <a:rPr lang="ko-KR" altLang="en-US" sz="1725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여러 기사를 모아 풍부하고 결론까지 있는 글을 준다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3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3045"/>
                        </a:lnSpc>
                        <a:buNone/>
                      </a:pPr>
                      <a:r>
                        <a:rPr lang="ko-KR" altLang="en-US" sz="2100" b="1" dirty="0">
                          <a:solidFill>
                            <a:srgbClr val="FF6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1"/>
                        </a:lnSpc>
                        <a:buNone/>
                      </a:pPr>
                      <a:r>
                        <a:rPr lang="ko-KR" altLang="en-US" sz="1725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어그로 한 줄은 부가 기능</a:t>
                      </a:r>
                      <a:r>
                        <a:rPr lang="ko-KR" altLang="en-US" sz="1725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사람을 끌어오는 기술로만 빌려 쓴다 (강한 단어·유행어 허용)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3045"/>
                        </a:lnSpc>
                        <a:buNone/>
                      </a:pPr>
                      <a:r>
                        <a:rPr lang="ko-KR" altLang="en-US" sz="2100" b="1" dirty="0">
                          <a:solidFill>
                            <a:srgbClr val="FF6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01"/>
                        </a:lnSpc>
                        <a:buNone/>
                      </a:pPr>
                      <a:r>
                        <a:rPr lang="ko-KR" altLang="en-US" sz="1725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과장은 허용, 대신 안내 문구</a:t>
                      </a:r>
                      <a:r>
                        <a:rPr lang="ko-KR" altLang="en-US" sz="1725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"흥미를 위해 과장될 수 있어요. 정확한 내용은 본문에서 확인해 주세요."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71450" marR="17145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글상자 10-16"/>
          <p:cNvSpPr txBox="1"/>
          <p:nvPr/>
        </p:nvSpPr>
        <p:spPr>
          <a:xfrm>
            <a:off x="11087844" y="6515100"/>
            <a:ext cx="72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ko-KR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1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11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 — 차별점</a:t>
            </a:r>
            <a:endParaRPr lang="ko-KR" sz="1275" dirty="0"/>
          </a:p>
        </p:txBody>
      </p:sp>
      <p:sp>
        <p:nvSpPr>
          <p:cNvPr id="4" name="글상자 11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취향의 사건 하나를, 여러 기사로 모아,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수준으로</a:t>
            </a: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ko-KR" sz="2700" dirty="0"/>
          </a:p>
        </p:txBody>
      </p:sp>
      <p:sp>
        <p:nvSpPr>
          <p:cNvPr id="5" name="글상자 11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포털은 "기사 목록"을 주고, 요약 뉴스레터는 "남이 고른 뉴스"를 줍니다.</a:t>
            </a:r>
            <a:endParaRPr lang="ko-KR" sz="1575" dirty="0"/>
          </a:p>
        </p:txBody>
      </p:sp>
      <p:graphicFrame>
        <p:nvGraphicFramePr>
          <p:cNvPr id="12" name="표 11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726853"/>
          <a:ext cx="10972800" cy="2869705"/>
        </p:xfrm>
        <a:graphic>
          <a:graphicData uri="http://schemas.openxmlformats.org/drawingml/2006/table">
            <a:tbl>
              <a:tblPr/>
              <a:tblGrid>
                <a:gridCol w="241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9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31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3A44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3A44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포털 뉴스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3A44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뉴스레터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FF6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 봐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0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먼저 움직이나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찾아감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메일이 옴 (메일함을 열어야 봄)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알림이 먼저 옴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0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보여주나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목록 (하나씩 따로)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편집자가 고른 뉴스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고른 깊은 분야 + 오늘의 화제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0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사건의 정보량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1개 (흩어짐)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요약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기사를 묶은 종합 기사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0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어려운 내용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검색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편집자 수준에 맞춤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단어를 탭하면 바로 해설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0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확인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자체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일부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문단마다 원문 링크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도형 11-6"/>
          <p:cNvSpPr/>
          <p:nvPr/>
        </p:nvSpPr>
        <p:spPr>
          <a:xfrm>
            <a:off x="609600" y="4810869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8" name="글상자 11-7"/>
          <p:cNvSpPr txBox="1"/>
          <p:nvPr/>
        </p:nvSpPr>
        <p:spPr>
          <a:xfrm>
            <a:off x="838200" y="4953744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편식 방지까지 —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'오늘의 화제'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페이지는 관심 분야와 상관없이 누구나 알아야 할 시사를 챙겨 준다.</a:t>
            </a:r>
            <a:endParaRPr lang="ko-KR" sz="1575" dirty="0"/>
          </a:p>
        </p:txBody>
      </p:sp>
      <p:sp>
        <p:nvSpPr>
          <p:cNvPr id="9" name="글상자 11-8"/>
          <p:cNvSpPr txBox="1"/>
          <p:nvPr/>
        </p:nvSpPr>
        <p:spPr>
          <a:xfrm>
            <a:off x="11087844" y="6515100"/>
            <a:ext cx="72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ko-KR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2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12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해결책 — 어떻게 만드나</a:t>
            </a:r>
            <a:endParaRPr lang="ko-KR" sz="1275" dirty="0"/>
          </a:p>
        </p:txBody>
      </p:sp>
      <p:sp>
        <p:nvSpPr>
          <p:cNvPr id="4" name="글상자 12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계획</a:t>
            </a:r>
            <a:endParaRPr lang="ko-KR" sz="2700" dirty="0"/>
          </a:p>
        </p:txBody>
      </p:sp>
      <p:sp>
        <p:nvSpPr>
          <p:cNvPr id="5" name="글상자 12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작업은 서버 쪽 스크립트가, 앱은 결과를 보여주기만 → 나중에 아이폰·웹을 붙일 때 화면만 새로 만들면 됨</a:t>
            </a:r>
            <a:endParaRPr lang="ko-KR" sz="1575" dirty="0"/>
          </a:p>
        </p:txBody>
      </p:sp>
      <p:sp>
        <p:nvSpPr>
          <p:cNvPr id="6" name="도형 12-5"/>
          <p:cNvSpPr/>
          <p:nvPr/>
        </p:nvSpPr>
        <p:spPr>
          <a:xfrm>
            <a:off x="609600" y="1745903"/>
            <a:ext cx="2428875" cy="2871043"/>
          </a:xfrm>
          <a:prstGeom prst="roundRect">
            <a:avLst>
              <a:gd name="adj" fmla="val 5490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글상자 12-6"/>
          <p:cNvSpPr txBox="1"/>
          <p:nvPr/>
        </p:nvSpPr>
        <p:spPr>
          <a:xfrm>
            <a:off x="771525" y="1888778"/>
            <a:ext cx="2333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뉴스 출처</a:t>
            </a:r>
            <a:endParaRPr lang="ko-KR" sz="1125" dirty="0"/>
          </a:p>
        </p:txBody>
      </p:sp>
      <p:sp>
        <p:nvSpPr>
          <p:cNvPr id="8" name="글상자 12-7"/>
          <p:cNvSpPr txBox="1"/>
          <p:nvPr/>
        </p:nvSpPr>
        <p:spPr>
          <a:xfrm>
            <a:off x="771525" y="2136428"/>
            <a:ext cx="2333625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뉴스 RSS</a:t>
            </a:r>
            <a:endParaRPr lang="ko-KR" sz="1575" dirty="0"/>
          </a:p>
        </p:txBody>
      </p:sp>
      <p:sp>
        <p:nvSpPr>
          <p:cNvPr id="9" name="글상자 12-8"/>
          <p:cNvSpPr txBox="1"/>
          <p:nvPr/>
        </p:nvSpPr>
        <p:spPr>
          <a:xfrm>
            <a:off x="771525" y="2434530"/>
            <a:ext cx="2168176" cy="68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화제. 같은 사건의 기사들이 이미 묶여서 옴 (가입 불필요)</a:t>
            </a:r>
            <a:endParaRPr lang="ko-KR" sz="1238" dirty="0"/>
          </a:p>
        </p:txBody>
      </p:sp>
      <p:sp>
        <p:nvSpPr>
          <p:cNvPr id="10" name="글상자 12-9"/>
          <p:cNvSpPr txBox="1"/>
          <p:nvPr/>
        </p:nvSpPr>
        <p:spPr>
          <a:xfrm>
            <a:off x="771525" y="3232398"/>
            <a:ext cx="2333625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뉴스 검색 API</a:t>
            </a:r>
            <a:endParaRPr lang="ko-KR" sz="1575" dirty="0"/>
          </a:p>
        </p:txBody>
      </p:sp>
      <p:sp>
        <p:nvSpPr>
          <p:cNvPr id="11" name="글상자 12-10"/>
          <p:cNvSpPr txBox="1"/>
          <p:nvPr/>
        </p:nvSpPr>
        <p:spPr>
          <a:xfrm>
            <a:off x="771525" y="3530501"/>
            <a:ext cx="2168176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분야·추천. 키워드 검색, 하루 25,000회 무료</a:t>
            </a:r>
            <a:endParaRPr lang="ko-KR" sz="1238" dirty="0"/>
          </a:p>
        </p:txBody>
      </p:sp>
      <p:sp>
        <p:nvSpPr>
          <p:cNvPr id="12" name="글상자 12-11"/>
          <p:cNvSpPr txBox="1"/>
          <p:nvPr/>
        </p:nvSpPr>
        <p:spPr>
          <a:xfrm>
            <a:off x="3133725" y="1745903"/>
            <a:ext cx="235458" cy="287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13" name="도형 12-12"/>
          <p:cNvSpPr/>
          <p:nvPr/>
        </p:nvSpPr>
        <p:spPr>
          <a:xfrm>
            <a:off x="3457575" y="1745903"/>
            <a:ext cx="2428875" cy="2871043"/>
          </a:xfrm>
          <a:prstGeom prst="roundRect">
            <a:avLst>
              <a:gd name="adj" fmla="val 5490"/>
            </a:avLst>
          </a:prstGeom>
          <a:solidFill>
            <a:srgbClr val="FFF1EA"/>
          </a:solidFill>
          <a:ln w="9525">
            <a:solidFill>
              <a:srgbClr val="FFC6AD"/>
            </a:solidFill>
            <a:prstDash val="solid"/>
          </a:ln>
        </p:spPr>
      </p:sp>
      <p:sp>
        <p:nvSpPr>
          <p:cNvPr id="14" name="글상자 12-13"/>
          <p:cNvSpPr txBox="1"/>
          <p:nvPr/>
        </p:nvSpPr>
        <p:spPr>
          <a:xfrm>
            <a:off x="3619500" y="1888778"/>
            <a:ext cx="2333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자동 처리 (하루 3번)</a:t>
            </a:r>
            <a:endParaRPr lang="ko-KR" sz="1125" dirty="0"/>
          </a:p>
        </p:txBody>
      </p:sp>
      <p:sp>
        <p:nvSpPr>
          <p:cNvPr id="15" name="글상자 12-14"/>
          <p:cNvSpPr txBox="1"/>
          <p:nvPr/>
        </p:nvSpPr>
        <p:spPr>
          <a:xfrm>
            <a:off x="3619500" y="2136428"/>
            <a:ext cx="2168176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+ 파이썬</a:t>
            </a:r>
            <a:endParaRPr lang="ko-KR" sz="1575" dirty="0"/>
          </a:p>
        </p:txBody>
      </p:sp>
      <p:sp>
        <p:nvSpPr>
          <p:cNvPr id="16" name="글상자 12-15"/>
          <p:cNvSpPr txBox="1"/>
          <p:nvPr/>
        </p:nvSpPr>
        <p:spPr>
          <a:xfrm>
            <a:off x="3619500" y="2694533"/>
            <a:ext cx="2168176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6:30 · 11:30 · 18:30 예약 실행 → 기사 모으기 → 본문 추출</a:t>
            </a:r>
            <a:endParaRPr lang="ko-KR" sz="1238" dirty="0"/>
          </a:p>
        </p:txBody>
      </p:sp>
      <p:sp>
        <p:nvSpPr>
          <p:cNvPr id="17" name="글상자 12-16"/>
          <p:cNvSpPr txBox="1"/>
          <p:nvPr/>
        </p:nvSpPr>
        <p:spPr>
          <a:xfrm>
            <a:off x="3619500" y="3264545"/>
            <a:ext cx="2333625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Flash-Lite</a:t>
            </a:r>
            <a:endParaRPr lang="ko-KR" sz="1575" dirty="0"/>
          </a:p>
        </p:txBody>
      </p:sp>
      <p:sp>
        <p:nvSpPr>
          <p:cNvPr id="18" name="글상자 12-17"/>
          <p:cNvSpPr txBox="1"/>
          <p:nvPr/>
        </p:nvSpPr>
        <p:spPr>
          <a:xfrm>
            <a:off x="3619500" y="3562648"/>
            <a:ext cx="2168176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기사 · 단어 해설 · 어그로 한 줄 생성 (무료 요금제, 다른 AI로 교체 가능하게 설계)</a:t>
            </a:r>
            <a:endParaRPr lang="ko-KR" sz="1238" dirty="0"/>
          </a:p>
        </p:txBody>
      </p:sp>
      <p:sp>
        <p:nvSpPr>
          <p:cNvPr id="19" name="글상자 12-18"/>
          <p:cNvSpPr txBox="1"/>
          <p:nvPr/>
        </p:nvSpPr>
        <p:spPr>
          <a:xfrm>
            <a:off x="5981700" y="1745903"/>
            <a:ext cx="235458" cy="287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20" name="도형 12-19"/>
          <p:cNvSpPr/>
          <p:nvPr/>
        </p:nvSpPr>
        <p:spPr>
          <a:xfrm>
            <a:off x="6305550" y="1745903"/>
            <a:ext cx="2428875" cy="2871043"/>
          </a:xfrm>
          <a:prstGeom prst="roundRect">
            <a:avLst>
              <a:gd name="adj" fmla="val 5490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1" name="글상자 12-20"/>
          <p:cNvSpPr txBox="1"/>
          <p:nvPr/>
        </p:nvSpPr>
        <p:spPr>
          <a:xfrm>
            <a:off x="6467475" y="1888778"/>
            <a:ext cx="2333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 저장</a:t>
            </a:r>
            <a:endParaRPr lang="ko-KR" sz="1125" dirty="0"/>
          </a:p>
        </p:txBody>
      </p:sp>
      <p:sp>
        <p:nvSpPr>
          <p:cNvPr id="22" name="글상자 12-21"/>
          <p:cNvSpPr txBox="1"/>
          <p:nvPr/>
        </p:nvSpPr>
        <p:spPr>
          <a:xfrm>
            <a:off x="6467475" y="2136428"/>
            <a:ext cx="2333625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Firestore</a:t>
            </a:r>
            <a:endParaRPr lang="ko-KR" sz="1575" dirty="0"/>
          </a:p>
        </p:txBody>
      </p:sp>
      <p:sp>
        <p:nvSpPr>
          <p:cNvPr id="23" name="글상자 12-22"/>
          <p:cNvSpPr txBox="1"/>
          <p:nvPr/>
        </p:nvSpPr>
        <p:spPr>
          <a:xfrm>
            <a:off x="6467475" y="2434530"/>
            <a:ext cx="2168176" cy="68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구글의 무료 앱 데이터 저장 서비스. 스크립트가 올리고 앱은 읽기만</a:t>
            </a:r>
            <a:endParaRPr lang="ko-KR" sz="1238" dirty="0"/>
          </a:p>
        </p:txBody>
      </p:sp>
      <p:sp>
        <p:nvSpPr>
          <p:cNvPr id="24" name="글상자 12-23"/>
          <p:cNvSpPr txBox="1"/>
          <p:nvPr/>
        </p:nvSpPr>
        <p:spPr>
          <a:xfrm>
            <a:off x="8829675" y="1745903"/>
            <a:ext cx="235458" cy="287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40"/>
              </a:lnSpc>
              <a:buNone/>
            </a:pPr>
            <a:r>
              <a:rPr lang="ko-KR" altLang="en-US" sz="18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800" dirty="0"/>
          </a:p>
        </p:txBody>
      </p:sp>
      <p:sp>
        <p:nvSpPr>
          <p:cNvPr id="25" name="도형 12-24"/>
          <p:cNvSpPr/>
          <p:nvPr/>
        </p:nvSpPr>
        <p:spPr>
          <a:xfrm>
            <a:off x="9153525" y="1745903"/>
            <a:ext cx="2428875" cy="2871043"/>
          </a:xfrm>
          <a:prstGeom prst="roundRect">
            <a:avLst>
              <a:gd name="adj" fmla="val 5490"/>
            </a:avLst>
          </a:prstGeom>
          <a:solidFill>
            <a:srgbClr val="E9EFFA"/>
          </a:solidFill>
          <a:ln w="9525">
            <a:solidFill>
              <a:srgbClr val="C4D3EE"/>
            </a:solidFill>
            <a:prstDash val="solid"/>
          </a:ln>
        </p:spPr>
      </p:sp>
      <p:sp>
        <p:nvSpPr>
          <p:cNvPr id="26" name="글상자 12-25"/>
          <p:cNvSpPr txBox="1"/>
          <p:nvPr/>
        </p:nvSpPr>
        <p:spPr>
          <a:xfrm>
            <a:off x="9315450" y="1888778"/>
            <a:ext cx="2333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보여주기</a:t>
            </a:r>
            <a:endParaRPr lang="ko-KR" sz="1125" dirty="0"/>
          </a:p>
        </p:txBody>
      </p:sp>
      <p:sp>
        <p:nvSpPr>
          <p:cNvPr id="27" name="글상자 12-26"/>
          <p:cNvSpPr txBox="1"/>
          <p:nvPr/>
        </p:nvSpPr>
        <p:spPr>
          <a:xfrm>
            <a:off x="9315450" y="2136428"/>
            <a:ext cx="2333625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48"/>
              </a:lnSpc>
              <a:buNone/>
            </a:pPr>
            <a:r>
              <a:rPr lang="ko-KR" altLang="en-US" sz="157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앱</a:t>
            </a:r>
            <a:endParaRPr lang="ko-KR" sz="1575" dirty="0"/>
          </a:p>
        </p:txBody>
      </p:sp>
      <p:sp>
        <p:nvSpPr>
          <p:cNvPr id="28" name="글상자 12-27"/>
          <p:cNvSpPr txBox="1"/>
          <p:nvPr/>
        </p:nvSpPr>
        <p:spPr>
          <a:xfrm>
            <a:off x="9315450" y="2434530"/>
            <a:ext cx="2168176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12 · 19시 스스로 알림 예약 → 누르면 종합 기사</a:t>
            </a:r>
            <a:endParaRPr lang="ko-KR" sz="1238" dirty="0"/>
          </a:p>
        </p:txBody>
      </p:sp>
      <p:sp>
        <p:nvSpPr>
          <p:cNvPr id="29" name="글상자 12-28"/>
          <p:cNvSpPr txBox="1"/>
          <p:nvPr/>
        </p:nvSpPr>
        <p:spPr>
          <a:xfrm>
            <a:off x="9315450" y="2966442"/>
            <a:ext cx="2168176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4"/>
              </a:lnSpc>
              <a:buNone/>
            </a:pPr>
            <a:r>
              <a:rPr lang="ko-KR" altLang="en-US" sz="123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Windows에서 개발, 설치 파일로 바로 설치</a:t>
            </a:r>
            <a:endParaRPr lang="ko-KR" sz="1238" dirty="0"/>
          </a:p>
        </p:txBody>
      </p:sp>
      <p:sp>
        <p:nvSpPr>
          <p:cNvPr id="30" name="도형 12-29"/>
          <p:cNvSpPr/>
          <p:nvPr/>
        </p:nvSpPr>
        <p:spPr>
          <a:xfrm>
            <a:off x="609600" y="4807446"/>
            <a:ext cx="3555950" cy="1631156"/>
          </a:xfrm>
          <a:prstGeom prst="roundRect">
            <a:avLst>
              <a:gd name="adj" fmla="val 8175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1" name="글상자 12-30"/>
          <p:cNvSpPr txBox="1"/>
          <p:nvPr/>
        </p:nvSpPr>
        <p:spPr>
          <a:xfrm>
            <a:off x="714375" y="4988421"/>
            <a:ext cx="3346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ko-KR" altLang="en-US" sz="30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ko-KR" sz="3000" dirty="0"/>
          </a:p>
        </p:txBody>
      </p:sp>
      <p:sp>
        <p:nvSpPr>
          <p:cNvPr id="32" name="글상자 12-31"/>
          <p:cNvSpPr txBox="1"/>
          <p:nvPr/>
        </p:nvSpPr>
        <p:spPr>
          <a:xfrm>
            <a:off x="781908" y="5464671"/>
            <a:ext cx="3211334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계정 모두 무료</a:t>
            </a:r>
            <a:endParaRPr lang="ko-KR" sz="1388" dirty="0"/>
          </a:p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(GitHub · 구글 · 네이버)</a:t>
            </a:r>
            <a:endParaRPr lang="ko-KR" sz="1388" dirty="0"/>
          </a:p>
        </p:txBody>
      </p:sp>
      <p:sp>
        <p:nvSpPr>
          <p:cNvPr id="33" name="도형 12-32"/>
          <p:cNvSpPr/>
          <p:nvPr/>
        </p:nvSpPr>
        <p:spPr>
          <a:xfrm>
            <a:off x="4317950" y="4807446"/>
            <a:ext cx="3555950" cy="1631156"/>
          </a:xfrm>
          <a:prstGeom prst="roundRect">
            <a:avLst>
              <a:gd name="adj" fmla="val 8175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4" name="글상자 12-33"/>
          <p:cNvSpPr txBox="1"/>
          <p:nvPr/>
        </p:nvSpPr>
        <p:spPr>
          <a:xfrm>
            <a:off x="4422725" y="4988421"/>
            <a:ext cx="3346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ko-KR" altLang="en-US" sz="30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약 42회/일</a:t>
            </a:r>
            <a:endParaRPr lang="ko-KR" sz="3000" dirty="0"/>
          </a:p>
        </p:txBody>
      </p:sp>
      <p:sp>
        <p:nvSpPr>
          <p:cNvPr id="35" name="글상자 12-34"/>
          <p:cNvSpPr txBox="1"/>
          <p:nvPr/>
        </p:nvSpPr>
        <p:spPr>
          <a:xfrm>
            <a:off x="4490258" y="5464671"/>
            <a:ext cx="3211334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호출 (종합 기사 최대 9개 × 3번 + 고르기 등)</a:t>
            </a:r>
            <a:endParaRPr lang="ko-KR" sz="1388" dirty="0"/>
          </a:p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하루 50회 이하로 관리</a:t>
            </a:r>
            <a:endParaRPr lang="ko-KR" sz="1388" dirty="0"/>
          </a:p>
        </p:txBody>
      </p:sp>
      <p:sp>
        <p:nvSpPr>
          <p:cNvPr id="36" name="도형 12-35"/>
          <p:cNvSpPr/>
          <p:nvPr/>
        </p:nvSpPr>
        <p:spPr>
          <a:xfrm>
            <a:off x="8026301" y="4807446"/>
            <a:ext cx="3556099" cy="1631156"/>
          </a:xfrm>
          <a:prstGeom prst="roundRect">
            <a:avLst>
              <a:gd name="adj" fmla="val 8175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7" name="글상자 12-36"/>
          <p:cNvSpPr txBox="1"/>
          <p:nvPr/>
        </p:nvSpPr>
        <p:spPr>
          <a:xfrm>
            <a:off x="8131076" y="4988421"/>
            <a:ext cx="33465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ko-KR" altLang="en-US" sz="3000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가능</a:t>
            </a:r>
            <a:endParaRPr lang="ko-KR" sz="3000" dirty="0"/>
          </a:p>
        </p:txBody>
      </p:sp>
      <p:sp>
        <p:nvSpPr>
          <p:cNvPr id="38" name="글상자 12-37"/>
          <p:cNvSpPr txBox="1"/>
          <p:nvPr/>
        </p:nvSpPr>
        <p:spPr>
          <a:xfrm>
            <a:off x="8198607" y="5464671"/>
            <a:ext cx="3211488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한도가 바뀌면</a:t>
            </a:r>
            <a:endParaRPr lang="ko-KR" sz="1388" dirty="0"/>
          </a:p>
          <a:p>
            <a:pPr marL="0" indent="0" algn="ctr">
              <a:lnSpc>
                <a:spcPts val="208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AI 모델로 갈아끼움</a:t>
            </a:r>
            <a:endParaRPr lang="ko-KR" sz="1388" dirty="0"/>
          </a:p>
        </p:txBody>
      </p:sp>
      <p:sp>
        <p:nvSpPr>
          <p:cNvPr id="39" name="글상자 12-38"/>
          <p:cNvSpPr txBox="1"/>
          <p:nvPr/>
        </p:nvSpPr>
        <p:spPr>
          <a:xfrm>
            <a:off x="609600" y="6512272"/>
            <a:ext cx="10382250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ko-KR" altLang="en-US" sz="1050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네이버 개발자센터 검색 API 이용 안내(일 25,000회) · Google AI Studio Gemini API 무료 요금제 (한도는 수시 변경되어 가입 후 실제 화면에서 확인 예정)</a:t>
            </a:r>
            <a:endParaRPr lang="ko-KR" sz="1050" dirty="0"/>
          </a:p>
        </p:txBody>
      </p:sp>
      <p:sp>
        <p:nvSpPr>
          <p:cNvPr id="40" name="글상자 12-39"/>
          <p:cNvSpPr txBox="1"/>
          <p:nvPr/>
        </p:nvSpPr>
        <p:spPr>
          <a:xfrm>
            <a:off x="11087844" y="6515100"/>
            <a:ext cx="72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ko-KR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3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13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기대 결과</a:t>
            </a:r>
            <a:endParaRPr lang="ko-KR" sz="1275" dirty="0"/>
          </a:p>
        </p:txBody>
      </p:sp>
      <p:sp>
        <p:nvSpPr>
          <p:cNvPr id="4" name="글상자 13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가설과 </a:t>
            </a:r>
            <a:r>
              <a:rPr lang="ko-KR" altLang="en-US" sz="27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ko-KR" sz="2700" dirty="0"/>
          </a:p>
        </p:txBody>
      </p:sp>
      <p:sp>
        <p:nvSpPr>
          <p:cNvPr id="5" name="도형 13-4"/>
          <p:cNvSpPr/>
          <p:nvPr/>
        </p:nvSpPr>
        <p:spPr>
          <a:xfrm>
            <a:off x="609600" y="1293465"/>
            <a:ext cx="10972800" cy="965299"/>
          </a:xfrm>
          <a:prstGeom prst="roundRect">
            <a:avLst>
              <a:gd name="adj" fmla="val 13814"/>
            </a:avLst>
          </a:prstGeom>
          <a:solidFill>
            <a:srgbClr val="1F3A68"/>
          </a:solidFill>
          <a:ln/>
        </p:spPr>
      </p:sp>
      <p:sp>
        <p:nvSpPr>
          <p:cNvPr id="6" name="글상자 13-5"/>
          <p:cNvSpPr txBox="1"/>
          <p:nvPr/>
        </p:nvSpPr>
        <p:spPr>
          <a:xfrm>
            <a:off x="819150" y="1464915"/>
            <a:ext cx="107823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ko-KR" altLang="en-US" sz="1275" dirty="0">
                <a:solidFill>
                  <a:srgbClr val="C9D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가설</a:t>
            </a:r>
            <a:endParaRPr lang="ko-KR" sz="1275" dirty="0"/>
          </a:p>
        </p:txBody>
      </p:sp>
      <p:sp>
        <p:nvSpPr>
          <p:cNvPr id="7" name="글상자 13-6"/>
          <p:cNvSpPr txBox="1"/>
          <p:nvPr/>
        </p:nvSpPr>
        <p:spPr>
          <a:xfrm>
            <a:off x="819150" y="1753939"/>
            <a:ext cx="10782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25"/>
              </a:lnSpc>
              <a:buNone/>
            </a:pPr>
            <a:r>
              <a:rPr lang="ko-KR" altLang="en-US" sz="18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"흥미로운 한 문장을 </a:t>
            </a:r>
            <a:r>
              <a:rPr lang="ko-KR" altLang="en-US" sz="18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ko-KR" altLang="en-US" sz="18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보여주면, 사람들이 뉴스를 </a:t>
            </a:r>
            <a:r>
              <a:rPr lang="ko-KR" altLang="en-US" sz="18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눌러 읽는다</a:t>
            </a:r>
            <a:r>
              <a:rPr lang="ko-KR" altLang="en-US" sz="18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  <a:endParaRPr lang="ko-KR" sz="1875" dirty="0"/>
          </a:p>
        </p:txBody>
      </p:sp>
      <p:sp>
        <p:nvSpPr>
          <p:cNvPr id="8" name="도형 13-7"/>
          <p:cNvSpPr/>
          <p:nvPr/>
        </p:nvSpPr>
        <p:spPr>
          <a:xfrm>
            <a:off x="609600" y="2449264"/>
            <a:ext cx="3441204" cy="2538264"/>
          </a:xfrm>
          <a:prstGeom prst="roundRect">
            <a:avLst>
              <a:gd name="adj" fmla="val 5254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9" name="도형 13-8"/>
          <p:cNvSpPr/>
          <p:nvPr/>
        </p:nvSpPr>
        <p:spPr>
          <a:xfrm>
            <a:off x="828675" y="2630239"/>
            <a:ext cx="1024384" cy="247650"/>
          </a:xfrm>
          <a:prstGeom prst="roundRect">
            <a:avLst>
              <a:gd name="adj" fmla="val 50000"/>
            </a:avLst>
          </a:prstGeom>
          <a:solidFill>
            <a:srgbClr val="E6F6EF"/>
          </a:solidFill>
          <a:ln/>
        </p:spPr>
      </p:sp>
      <p:sp>
        <p:nvSpPr>
          <p:cNvPr id="10" name="글상자 13-9"/>
          <p:cNvSpPr txBox="1"/>
          <p:nvPr/>
        </p:nvSpPr>
        <p:spPr>
          <a:xfrm>
            <a:off x="933450" y="2658814"/>
            <a:ext cx="10434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①</a:t>
            </a:r>
            <a:endParaRPr lang="ko-KR" sz="1125" dirty="0"/>
          </a:p>
        </p:txBody>
      </p:sp>
      <p:sp>
        <p:nvSpPr>
          <p:cNvPr id="11" name="글상자 13-10"/>
          <p:cNvSpPr txBox="1"/>
          <p:nvPr/>
        </p:nvSpPr>
        <p:spPr>
          <a:xfrm>
            <a:off x="828675" y="2973139"/>
            <a:ext cx="32316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동작하는 시연</a:t>
            </a:r>
            <a:endParaRPr lang="ko-KR" sz="1725" dirty="0"/>
          </a:p>
        </p:txBody>
      </p:sp>
      <p:sp>
        <p:nvSpPr>
          <p:cNvPr id="12" name="글상자 13-11"/>
          <p:cNvSpPr txBox="1"/>
          <p:nvPr/>
        </p:nvSpPr>
        <p:spPr>
          <a:xfrm>
            <a:off x="828675" y="3344614"/>
            <a:ext cx="3093146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문장 → 클릭 → 종합 기사 → 출처 확인까지 한 흐름이 끊김 없이 동작</a:t>
            </a:r>
            <a:endParaRPr lang="ko-KR" sz="1388" dirty="0"/>
          </a:p>
        </p:txBody>
      </p:sp>
      <p:sp>
        <p:nvSpPr>
          <p:cNvPr id="13" name="도형 13-12"/>
          <p:cNvSpPr/>
          <p:nvPr/>
        </p:nvSpPr>
        <p:spPr>
          <a:xfrm>
            <a:off x="4203204" y="2449264"/>
            <a:ext cx="3441353" cy="2538264"/>
          </a:xfrm>
          <a:prstGeom prst="roundRect">
            <a:avLst>
              <a:gd name="adj" fmla="val 5254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도형 13-13"/>
          <p:cNvSpPr/>
          <p:nvPr/>
        </p:nvSpPr>
        <p:spPr>
          <a:xfrm>
            <a:off x="4422279" y="2630239"/>
            <a:ext cx="1024384" cy="247650"/>
          </a:xfrm>
          <a:prstGeom prst="roundRect">
            <a:avLst>
              <a:gd name="adj" fmla="val 50000"/>
            </a:avLst>
          </a:prstGeom>
          <a:solidFill>
            <a:srgbClr val="E6F6EF"/>
          </a:solidFill>
          <a:ln/>
        </p:spPr>
      </p:sp>
      <p:sp>
        <p:nvSpPr>
          <p:cNvPr id="15" name="글상자 13-14"/>
          <p:cNvSpPr txBox="1"/>
          <p:nvPr/>
        </p:nvSpPr>
        <p:spPr>
          <a:xfrm>
            <a:off x="4527054" y="2658814"/>
            <a:ext cx="10434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②</a:t>
            </a:r>
            <a:endParaRPr lang="ko-KR" sz="1125" dirty="0"/>
          </a:p>
        </p:txBody>
      </p:sp>
      <p:sp>
        <p:nvSpPr>
          <p:cNvPr id="16" name="글상자 13-15"/>
          <p:cNvSpPr txBox="1"/>
          <p:nvPr/>
        </p:nvSpPr>
        <p:spPr>
          <a:xfrm>
            <a:off x="4422279" y="2973139"/>
            <a:ext cx="32318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43"/>
              </a:lnSpc>
              <a:buNone/>
            </a:pPr>
            <a:r>
              <a:rPr lang="ko-KR" altLang="en-US" sz="1725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실사용 기록</a:t>
            </a:r>
            <a:endParaRPr lang="ko-KR" sz="1725" dirty="0"/>
          </a:p>
        </p:txBody>
      </p:sp>
      <p:sp>
        <p:nvSpPr>
          <p:cNvPr id="17" name="글상자 13-16"/>
          <p:cNvSpPr txBox="1"/>
          <p:nvPr/>
        </p:nvSpPr>
        <p:spPr>
          <a:xfrm>
            <a:off x="4422279" y="3344614"/>
            <a:ext cx="3093299" cy="54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1"/>
              </a:lnSpc>
              <a:buNone/>
            </a:pP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2주 동안 사용하며 </a:t>
            </a:r>
            <a:r>
              <a:rPr lang="ko-KR" altLang="en-US" sz="1388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알림을 눌렀는지</a:t>
            </a:r>
            <a:r>
              <a:rPr lang="ko-KR" altLang="en-US" sz="1388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클릭 기록을 남겨 가설 확인</a:t>
            </a:r>
            <a:endParaRPr lang="ko-KR" sz="1388" dirty="0"/>
          </a:p>
        </p:txBody>
      </p:sp>
      <p:sp>
        <p:nvSpPr>
          <p:cNvPr id="18" name="도형 13-17"/>
          <p:cNvSpPr/>
          <p:nvPr/>
        </p:nvSpPr>
        <p:spPr>
          <a:xfrm>
            <a:off x="7796957" y="2449264"/>
            <a:ext cx="3785443" cy="2538264"/>
          </a:xfrm>
          <a:prstGeom prst="roundRect">
            <a:avLst>
              <a:gd name="adj" fmla="val 5254"/>
            </a:avLst>
          </a:prstGeom>
          <a:solidFill>
            <a:srgbClr val="F7F9FC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9" name="도형 13-18"/>
          <p:cNvSpPr/>
          <p:nvPr/>
        </p:nvSpPr>
        <p:spPr>
          <a:xfrm>
            <a:off x="8016032" y="2630239"/>
            <a:ext cx="831354" cy="247650"/>
          </a:xfrm>
          <a:prstGeom prst="roundRect">
            <a:avLst>
              <a:gd name="adj" fmla="val 50000"/>
            </a:avLst>
          </a:prstGeom>
          <a:solidFill>
            <a:srgbClr val="E9EFFA"/>
          </a:solidFill>
          <a:ln/>
        </p:spPr>
      </p:sp>
      <p:sp>
        <p:nvSpPr>
          <p:cNvPr id="20" name="글상자 13-19"/>
          <p:cNvSpPr txBox="1"/>
          <p:nvPr/>
        </p:nvSpPr>
        <p:spPr>
          <a:xfrm>
            <a:off x="8120807" y="2658814"/>
            <a:ext cx="8504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</a:t>
            </a:r>
            <a:endParaRPr lang="ko-KR" sz="1125" dirty="0"/>
          </a:p>
        </p:txBody>
      </p:sp>
      <p:graphicFrame>
        <p:nvGraphicFramePr>
          <p:cNvPr id="21" name="표 13-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16032" y="2992189"/>
          <a:ext cx="3347293" cy="1814364"/>
        </p:xfrm>
        <a:graphic>
          <a:graphicData uri="http://schemas.openxmlformats.org/drawingml/2006/table">
            <a:tbl>
              <a:tblPr/>
              <a:tblGrid>
                <a:gridCol w="2970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1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ko-KR" altLang="en-US" sz="13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아이디어 정리 · MVP 확정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7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ko-KR" altLang="en-US" sz="13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 · 기능명세서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ko-KR" altLang="en-US" sz="13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설계 · 목업 4종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⏳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77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ko-KR" altLang="en-US" sz="13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나머지 설계 문서 → 구현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1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ko-KR" altLang="en-US" sz="13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48"/>
                        </a:lnSpc>
                        <a:buNone/>
                      </a:pPr>
                      <a:r>
                        <a:rPr lang="ko-KR" altLang="en-US" sz="1463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🔴</a:t>
                      </a:r>
                      <a:endParaRPr lang="ko-KR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도형 13-21"/>
          <p:cNvSpPr/>
          <p:nvPr/>
        </p:nvSpPr>
        <p:spPr>
          <a:xfrm>
            <a:off x="609600" y="5787033"/>
            <a:ext cx="10972800" cy="575667"/>
          </a:xfrm>
          <a:prstGeom prst="roundRect">
            <a:avLst>
              <a:gd name="adj" fmla="val 23164"/>
            </a:avLst>
          </a:prstGeom>
          <a:solidFill>
            <a:srgbClr val="1F3A68"/>
          </a:solidFill>
          <a:ln/>
        </p:spPr>
      </p:sp>
      <p:sp>
        <p:nvSpPr>
          <p:cNvPr id="23" name="글상자 13-22"/>
          <p:cNvSpPr txBox="1"/>
          <p:nvPr/>
        </p:nvSpPr>
        <p:spPr>
          <a:xfrm>
            <a:off x="838200" y="5929908"/>
            <a:ext cx="107442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84"/>
              </a:lnSpc>
              <a:buNone/>
            </a:pP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— 뉴스를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찾아보지 않던 사람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하루 3번, 내 관심사의 사건을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결론까지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수준으로</a:t>
            </a:r>
            <a:r>
              <a:rPr lang="ko-KR" alt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알게 된다.</a:t>
            </a:r>
            <a:endParaRPr lang="ko-KR" sz="1575" dirty="0"/>
          </a:p>
        </p:txBody>
      </p:sp>
      <p:sp>
        <p:nvSpPr>
          <p:cNvPr id="24" name="글상자 13-23"/>
          <p:cNvSpPr txBox="1"/>
          <p:nvPr/>
        </p:nvSpPr>
        <p:spPr>
          <a:xfrm>
            <a:off x="11087844" y="6515100"/>
            <a:ext cx="72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ko-KR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4-1"/>
          <p:cNvSpPr txBox="1"/>
          <p:nvPr/>
        </p:nvSpPr>
        <p:spPr>
          <a:xfrm>
            <a:off x="609600" y="1183928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ko-KR" sz="1275" dirty="0"/>
          </a:p>
        </p:txBody>
      </p:sp>
      <p:sp>
        <p:nvSpPr>
          <p:cNvPr id="3" name="글상자 14-2"/>
          <p:cNvSpPr txBox="1"/>
          <p:nvPr/>
        </p:nvSpPr>
        <p:spPr>
          <a:xfrm>
            <a:off x="609600" y="1479203"/>
            <a:ext cx="11301984" cy="1851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6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뉴스를 찾으러 가지 않는다.</a:t>
            </a:r>
            <a:endParaRPr lang="ko-KR" sz="3600" dirty="0"/>
          </a:p>
          <a:p>
            <a:pPr marL="0" indent="0" algn="l">
              <a:lnSpc>
                <a:spcPts val="486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그러니 뉴스가, </a:t>
            </a:r>
            <a:r>
              <a:rPr lang="ko-KR" altLang="en-US" sz="360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재미있는 한 문장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</a:t>
            </a:r>
            <a:endParaRPr lang="ko-KR" sz="3600" dirty="0"/>
          </a:p>
          <a:p>
            <a:pPr marL="0" indent="0" algn="l">
              <a:lnSpc>
                <a:spcPts val="486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찾아가야 한다.</a:t>
            </a:r>
            <a:endParaRPr lang="ko-KR" sz="3600" dirty="0"/>
          </a:p>
        </p:txBody>
      </p:sp>
      <p:sp>
        <p:nvSpPr>
          <p:cNvPr id="4" name="도형 14-3"/>
          <p:cNvSpPr/>
          <p:nvPr/>
        </p:nvSpPr>
        <p:spPr>
          <a:xfrm>
            <a:off x="609600" y="3673673"/>
            <a:ext cx="3389709" cy="1123950"/>
          </a:xfrm>
          <a:prstGeom prst="roundRect">
            <a:avLst>
              <a:gd name="adj" fmla="val 1016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글상자 14-4"/>
          <p:cNvSpPr txBox="1"/>
          <p:nvPr/>
        </p:nvSpPr>
        <p:spPr>
          <a:xfrm>
            <a:off x="800100" y="3807023"/>
            <a:ext cx="309897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중 4명이 뉴스를 피하고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한국인의 언론사 직접 방문은 8%뿐</a:t>
            </a:r>
            <a:endParaRPr lang="ko-KR" sz="1500" dirty="0"/>
          </a:p>
        </p:txBody>
      </p:sp>
      <p:sp>
        <p:nvSpPr>
          <p:cNvPr id="6" name="도형 14-5"/>
          <p:cNvSpPr/>
          <p:nvPr/>
        </p:nvSpPr>
        <p:spPr>
          <a:xfrm>
            <a:off x="4151709" y="3673673"/>
            <a:ext cx="2920008" cy="1123950"/>
          </a:xfrm>
          <a:prstGeom prst="roundRect">
            <a:avLst>
              <a:gd name="adj" fmla="val 1016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글상자 14-6"/>
          <p:cNvSpPr txBox="1"/>
          <p:nvPr/>
        </p:nvSpPr>
        <p:spPr>
          <a:xfrm>
            <a:off x="4342209" y="3807023"/>
            <a:ext cx="261517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분야 · 종합 기사 ·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해설 · 어그로 한 줄 알림</a:t>
            </a:r>
            <a:endParaRPr lang="ko-KR" sz="1500" dirty="0"/>
          </a:p>
        </p:txBody>
      </p:sp>
      <p:sp>
        <p:nvSpPr>
          <p:cNvPr id="8" name="도형 14-7"/>
          <p:cNvSpPr/>
          <p:nvPr/>
        </p:nvSpPr>
        <p:spPr>
          <a:xfrm>
            <a:off x="7224117" y="3673673"/>
            <a:ext cx="2849314" cy="1123950"/>
          </a:xfrm>
          <a:prstGeom prst="roundRect">
            <a:avLst>
              <a:gd name="adj" fmla="val 1016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글상자 14-8"/>
          <p:cNvSpPr txBox="1"/>
          <p:nvPr/>
        </p:nvSpPr>
        <p:spPr>
          <a:xfrm>
            <a:off x="7414617" y="3807023"/>
            <a:ext cx="254236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b="1" dirty="0">
                <a:solidFill>
                  <a:srgbClr val="FFB3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동작하는 시연 +</a:t>
            </a:r>
            <a:endParaRPr lang="ko-KR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클릭 기록으로 가설 확인</a:t>
            </a:r>
            <a:endParaRPr lang="ko-KR" sz="1500" dirty="0"/>
          </a:p>
        </p:txBody>
      </p:sp>
      <p:sp>
        <p:nvSpPr>
          <p:cNvPr id="10" name="글상자 14-9"/>
          <p:cNvSpPr txBox="1"/>
          <p:nvPr/>
        </p:nvSpPr>
        <p:spPr>
          <a:xfrm>
            <a:off x="609600" y="5216723"/>
            <a:ext cx="1120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ko-KR" altLang="en-US" sz="2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ko-KR" altLang="en-US" sz="2250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2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뉴스 봐</a:t>
            </a:r>
            <a:endParaRPr lang="ko-KR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글상자 15-1"/>
          <p:cNvSpPr txBox="1"/>
          <p:nvPr/>
        </p:nvSpPr>
        <p:spPr>
          <a:xfrm>
            <a:off x="11103471" y="190500"/>
            <a:ext cx="707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A2AA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</a:t>
            </a:r>
            <a:r>
              <a:rPr lang="ko-KR" altLang="en-US" sz="112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</a:t>
            </a:r>
            <a:endParaRPr lang="ko-KR" sz="1125" dirty="0"/>
          </a:p>
        </p:txBody>
      </p:sp>
      <p:sp>
        <p:nvSpPr>
          <p:cNvPr id="3" name="글상자 15-2"/>
          <p:cNvSpPr txBox="1"/>
          <p:nvPr/>
        </p:nvSpPr>
        <p:spPr>
          <a:xfrm>
            <a:off x="609600" y="419100"/>
            <a:ext cx="11201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ko-KR" altLang="en-US" sz="1275" b="1" dirty="0">
                <a:solidFill>
                  <a:srgbClr val="FF6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ko-KR" sz="1275" dirty="0"/>
          </a:p>
        </p:txBody>
      </p:sp>
      <p:sp>
        <p:nvSpPr>
          <p:cNvPr id="4" name="글상자 15-3"/>
          <p:cNvSpPr txBox="1"/>
          <p:nvPr/>
        </p:nvSpPr>
        <p:spPr>
          <a:xfrm>
            <a:off x="609600" y="714375"/>
            <a:ext cx="1120140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ko-KR" altLang="en-US" sz="27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ko-KR" sz="2700" dirty="0"/>
          </a:p>
        </p:txBody>
      </p:sp>
      <p:sp>
        <p:nvSpPr>
          <p:cNvPr id="5" name="글상자 15-4"/>
          <p:cNvSpPr txBox="1"/>
          <p:nvPr/>
        </p:nvSpPr>
        <p:spPr>
          <a:xfrm>
            <a:off x="609600" y="1236315"/>
            <a:ext cx="112014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ko-KR" altLang="en-US" sz="1575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한 2025~2026년 최신 조사를 사용했습니다.</a:t>
            </a:r>
            <a:endParaRPr lang="ko-KR" sz="1575" dirty="0"/>
          </a:p>
        </p:txBody>
      </p:sp>
      <p:sp>
        <p:nvSpPr>
          <p:cNvPr id="6" name="글상자 15-5"/>
          <p:cNvSpPr txBox="1"/>
          <p:nvPr/>
        </p:nvSpPr>
        <p:spPr>
          <a:xfrm>
            <a:off x="971550" y="1736378"/>
            <a:ext cx="1092917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Reuters Institute, 「Digital News Report 2026」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(2026.06) — 한국 결과: 한국언론진흥재단 분석, 노컷뉴스 보도 (2026.06.16)</a:t>
            </a:r>
            <a:endParaRPr lang="ko-KR" sz="1313" dirty="0"/>
          </a:p>
          <a:p>
            <a:pPr marL="0" indent="0" algn="l">
              <a:lnSpc>
                <a:spcPts val="1903"/>
              </a:lnSpc>
              <a:buNone/>
            </a:pP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https://en.nocutnews.co.kr/news/6533916</a:t>
            </a:r>
            <a:endParaRPr lang="ko-KR" sz="1313" dirty="0"/>
          </a:p>
        </p:txBody>
      </p:sp>
      <p:sp>
        <p:nvSpPr>
          <p:cNvPr id="7" name="도형 15-6"/>
          <p:cNvSpPr/>
          <p:nvPr/>
        </p:nvSpPr>
        <p:spPr>
          <a:xfrm>
            <a:off x="609600" y="1736378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8" name="글상자 15-7"/>
          <p:cNvSpPr txBox="1"/>
          <p:nvPr/>
        </p:nvSpPr>
        <p:spPr>
          <a:xfrm>
            <a:off x="495300" y="1736378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125" dirty="0"/>
          </a:p>
        </p:txBody>
      </p:sp>
      <p:sp>
        <p:nvSpPr>
          <p:cNvPr id="9" name="글상자 15-8"/>
          <p:cNvSpPr txBox="1"/>
          <p:nvPr/>
        </p:nvSpPr>
        <p:spPr>
          <a:xfrm>
            <a:off x="971550" y="2324546"/>
            <a:ext cx="1092917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Reuters Institute, 「Digital News Report 2025」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(2025.06) — 뉴스 회피 40%, 회피 이유</a:t>
            </a:r>
            <a:endParaRPr lang="ko-KR" sz="1313" dirty="0"/>
          </a:p>
          <a:p>
            <a:pPr marL="0" indent="0" algn="l">
              <a:lnSpc>
                <a:spcPts val="1903"/>
              </a:lnSpc>
              <a:buNone/>
            </a:pP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https://reutersinstitute.politics.ox.ac.uk/digital-news-report/2025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https://www.statista.com/chart/34635/why-people-actively-try-to-avoid-the-news</a:t>
            </a:r>
            <a:endParaRPr lang="ko-KR" sz="1313" dirty="0"/>
          </a:p>
        </p:txBody>
      </p:sp>
      <p:sp>
        <p:nvSpPr>
          <p:cNvPr id="10" name="도형 15-9"/>
          <p:cNvSpPr/>
          <p:nvPr/>
        </p:nvSpPr>
        <p:spPr>
          <a:xfrm>
            <a:off x="609600" y="2324546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11" name="글상자 15-10"/>
          <p:cNvSpPr txBox="1"/>
          <p:nvPr/>
        </p:nvSpPr>
        <p:spPr>
          <a:xfrm>
            <a:off x="495300" y="2324546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125" dirty="0"/>
          </a:p>
        </p:txBody>
      </p:sp>
      <p:sp>
        <p:nvSpPr>
          <p:cNvPr id="12" name="글상자 15-11"/>
          <p:cNvSpPr txBox="1"/>
          <p:nvPr/>
        </p:nvSpPr>
        <p:spPr>
          <a:xfrm>
            <a:off x="971550" y="2912715"/>
            <a:ext cx="1092917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Nieman Lab, "AI-personalized news takes new forms, but do readers want it?"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(2025.06) — AI 뉴스 기능 선호 (요약 27% 등)</a:t>
            </a:r>
            <a:endParaRPr lang="ko-KR" sz="1313" dirty="0"/>
          </a:p>
          <a:p>
            <a:pPr marL="0" indent="0" algn="l">
              <a:lnSpc>
                <a:spcPts val="1903"/>
              </a:lnSpc>
              <a:buNone/>
            </a:pP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https://www.niemanlab.org/2025/06/ai-personalized-news-takes-new-forms-but-do-readers-want-it/</a:t>
            </a:r>
            <a:endParaRPr lang="ko-KR" sz="1313" dirty="0"/>
          </a:p>
        </p:txBody>
      </p:sp>
      <p:sp>
        <p:nvSpPr>
          <p:cNvPr id="13" name="도형 15-12"/>
          <p:cNvSpPr/>
          <p:nvPr/>
        </p:nvSpPr>
        <p:spPr>
          <a:xfrm>
            <a:off x="609600" y="2912715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14" name="글상자 15-13"/>
          <p:cNvSpPr txBox="1"/>
          <p:nvPr/>
        </p:nvSpPr>
        <p:spPr>
          <a:xfrm>
            <a:off x="495300" y="2912715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125" dirty="0"/>
          </a:p>
        </p:txBody>
      </p:sp>
      <p:sp>
        <p:nvSpPr>
          <p:cNvPr id="15" name="글상자 15-14"/>
          <p:cNvSpPr txBox="1"/>
          <p:nvPr/>
        </p:nvSpPr>
        <p:spPr>
          <a:xfrm>
            <a:off x="971550" y="3500884"/>
            <a:ext cx="1092917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Press Gazette, "News avoidance at record levels as four in ten worn out by news"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(2024.06) — Digital News Report 2024</a:t>
            </a:r>
            <a:endParaRPr lang="ko-KR" sz="1313" dirty="0"/>
          </a:p>
          <a:p>
            <a:pPr marL="0" indent="0" algn="l">
              <a:lnSpc>
                <a:spcPts val="1903"/>
              </a:lnSpc>
              <a:buNone/>
            </a:pP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https://pressgazette.co.uk/media-audience-and-business-data/news-avoidance-at-record-levels-as-four-in-ten-worn-out-by-news/</a:t>
            </a:r>
            <a:endParaRPr lang="ko-KR" sz="1313" dirty="0"/>
          </a:p>
        </p:txBody>
      </p:sp>
      <p:sp>
        <p:nvSpPr>
          <p:cNvPr id="16" name="도형 15-15"/>
          <p:cNvSpPr/>
          <p:nvPr/>
        </p:nvSpPr>
        <p:spPr>
          <a:xfrm>
            <a:off x="609600" y="3500884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17" name="글상자 15-16"/>
          <p:cNvSpPr txBox="1"/>
          <p:nvPr/>
        </p:nvSpPr>
        <p:spPr>
          <a:xfrm>
            <a:off x="495300" y="3500884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125" dirty="0"/>
          </a:p>
        </p:txBody>
      </p:sp>
      <p:sp>
        <p:nvSpPr>
          <p:cNvPr id="18" name="글상자 15-17"/>
          <p:cNvSpPr txBox="1"/>
          <p:nvPr/>
        </p:nvSpPr>
        <p:spPr>
          <a:xfrm>
            <a:off x="971550" y="4089053"/>
            <a:ext cx="1092917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한국언론진흥재단, 「2025 언론수용자 조사」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기자협회보 보도 "'읽는 뉴스'서 '보는 뉴스'로… 포털 지고 유튜브 급등"</a:t>
            </a:r>
            <a:endParaRPr lang="ko-KR" sz="1313" dirty="0"/>
          </a:p>
          <a:p>
            <a:pPr marL="0" indent="0" algn="l">
              <a:lnSpc>
                <a:spcPts val="1903"/>
              </a:lnSpc>
              <a:buNone/>
            </a:pPr>
            <a:r>
              <a:rPr lang="ko-KR" altLang="en-US" sz="1088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https://www.journalist.or.kr/news/article.html?no=60017</a:t>
            </a:r>
            <a:endParaRPr lang="ko-KR" sz="1313" dirty="0"/>
          </a:p>
        </p:txBody>
      </p:sp>
      <p:sp>
        <p:nvSpPr>
          <p:cNvPr id="19" name="도형 15-18"/>
          <p:cNvSpPr/>
          <p:nvPr/>
        </p:nvSpPr>
        <p:spPr>
          <a:xfrm>
            <a:off x="609600" y="408905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20" name="글상자 15-19"/>
          <p:cNvSpPr txBox="1"/>
          <p:nvPr/>
        </p:nvSpPr>
        <p:spPr>
          <a:xfrm>
            <a:off x="495300" y="4089053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125" dirty="0"/>
          </a:p>
        </p:txBody>
      </p:sp>
      <p:sp>
        <p:nvSpPr>
          <p:cNvPr id="21" name="글상자 15-20"/>
          <p:cNvSpPr txBox="1"/>
          <p:nvPr/>
        </p:nvSpPr>
        <p:spPr>
          <a:xfrm>
            <a:off x="971550" y="4677221"/>
            <a:ext cx="108394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개발자센터 검색 API · Google AI Studio (Gemini API)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이용 한도·요금 안내 (2026.10 확인 기준)</a:t>
            </a:r>
            <a:endParaRPr lang="ko-KR" sz="1313" dirty="0"/>
          </a:p>
        </p:txBody>
      </p:sp>
      <p:sp>
        <p:nvSpPr>
          <p:cNvPr id="22" name="도형 15-21"/>
          <p:cNvSpPr/>
          <p:nvPr/>
        </p:nvSpPr>
        <p:spPr>
          <a:xfrm>
            <a:off x="609600" y="4677221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23" name="글상자 15-22"/>
          <p:cNvSpPr txBox="1"/>
          <p:nvPr/>
        </p:nvSpPr>
        <p:spPr>
          <a:xfrm>
            <a:off x="495300" y="4677221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125" dirty="0"/>
          </a:p>
        </p:txBody>
      </p:sp>
      <p:sp>
        <p:nvSpPr>
          <p:cNvPr id="24" name="글상자 15-23"/>
          <p:cNvSpPr txBox="1"/>
          <p:nvPr/>
        </p:nvSpPr>
        <p:spPr>
          <a:xfrm>
            <a:off x="971550" y="5023693"/>
            <a:ext cx="108394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3"/>
              </a:lnSpc>
              <a:buNone/>
            </a:pPr>
            <a:r>
              <a:rPr lang="ko-KR" altLang="en-US" sz="1313" b="1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자체 문서</a:t>
            </a:r>
            <a:r>
              <a:rPr lang="ko-KR" altLang="en-US" sz="1313" dirty="0">
                <a:solidFill>
                  <a:srgbClr val="2F39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아이디어 정리(idea.md v0.15) · 02 기획서 v1.3 · 03 기능명세서</a:t>
            </a:r>
            <a:endParaRPr lang="ko-KR" sz="1313" dirty="0"/>
          </a:p>
        </p:txBody>
      </p:sp>
      <p:sp>
        <p:nvSpPr>
          <p:cNvPr id="25" name="도형 15-24"/>
          <p:cNvSpPr/>
          <p:nvPr/>
        </p:nvSpPr>
        <p:spPr>
          <a:xfrm>
            <a:off x="609600" y="502369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E9EFFA"/>
          </a:solidFill>
          <a:ln/>
        </p:spPr>
      </p:sp>
      <p:sp>
        <p:nvSpPr>
          <p:cNvPr id="26" name="글상자 15-25"/>
          <p:cNvSpPr txBox="1"/>
          <p:nvPr/>
        </p:nvSpPr>
        <p:spPr>
          <a:xfrm>
            <a:off x="495300" y="5023693"/>
            <a:ext cx="485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31"/>
              </a:lnSpc>
              <a:buNone/>
            </a:pPr>
            <a:r>
              <a:rPr lang="ko-KR" altLang="en-US" sz="1125" b="1" dirty="0">
                <a:solidFill>
                  <a:srgbClr val="1F3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125" dirty="0"/>
          </a:p>
        </p:txBody>
      </p:sp>
      <p:sp>
        <p:nvSpPr>
          <p:cNvPr id="27" name="글상자 15-26"/>
          <p:cNvSpPr txBox="1"/>
          <p:nvPr/>
        </p:nvSpPr>
        <p:spPr>
          <a:xfrm>
            <a:off x="11087844" y="6515100"/>
            <a:ext cx="7231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ko-KR" altLang="en-US" sz="1125" b="1" dirty="0">
                <a:solidFill>
                  <a:srgbClr val="7D8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15</a:t>
            </a:r>
            <a:endParaRPr lang="ko-KR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2913</Words>
  <Application>Microsoft Office PowerPoint</Application>
  <PresentationFormat>와이드스크린</PresentationFormat>
  <Paragraphs>375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뉴스 봐 — 아이디어 발표</dc:title>
  <dc:subject>PptxGenJS Presentation</dc:subject>
  <dc:creator>PptxGenJS</dc:creator>
  <cp:lastModifiedBy>율 손</cp:lastModifiedBy>
  <cp:revision>3</cp:revision>
  <dcterms:created xsi:type="dcterms:W3CDTF">2026-10-26T06:23:09Z</dcterms:created>
  <dcterms:modified xsi:type="dcterms:W3CDTF">2026-10-26T07:36:01Z</dcterms:modified>
</cp:coreProperties>
</file>